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</p:sldIdLst>
  <p:sldSz cx="18288000" cy="10287000"/>
  <p:notesSz cx="6858000" cy="9144000"/>
  <p:embeddedFontLst>
    <p:embeddedFont>
      <p:font typeface="Alice" panose="020B0604020202020204" charset="0"/>
      <p:regular r:id="rId5"/>
    </p:embeddedFont>
    <p:embeddedFont>
      <p:font typeface="Alice Bold" panose="020B0604020202020204" charset="0"/>
      <p:regular r:id="rId6"/>
    </p:embeddedFont>
    <p:embeddedFont>
      <p:font typeface="Alice Italics" panose="020B0604020202020204" charset="0"/>
      <p:regular r:id="rId7"/>
    </p:embeddedFont>
    <p:embeddedFont>
      <p:font typeface="Open Sans" panose="020B0606030504020204" pitchFamily="34" charset="0"/>
      <p:regular r:id="rId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907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4.fntdata"/><Relationship Id="rId3" Type="http://schemas.openxmlformats.org/officeDocument/2006/relationships/slide" Target="slides/slide2.xml"/><Relationship Id="rId7" Type="http://schemas.openxmlformats.org/officeDocument/2006/relationships/font" Target="fonts/font3.fntdata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2.fntdata"/><Relationship Id="rId11" Type="http://schemas.openxmlformats.org/officeDocument/2006/relationships/theme" Target="theme/theme1.xml"/><Relationship Id="rId5" Type="http://schemas.openxmlformats.org/officeDocument/2006/relationships/font" Target="fonts/font1.fntdata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13" Type="http://schemas.openxmlformats.org/officeDocument/2006/relationships/image" Target="../media/image6.png"/><Relationship Id="rId3" Type="http://schemas.openxmlformats.org/officeDocument/2006/relationships/image" Target="../media/image2.png"/><Relationship Id="rId7" Type="http://schemas.openxmlformats.org/officeDocument/2006/relationships/image" Target="../media/image8.png"/><Relationship Id="rId12" Type="http://schemas.openxmlformats.org/officeDocument/2006/relationships/image" Target="../media/image10.png"/><Relationship Id="rId17" Type="http://schemas.openxmlformats.org/officeDocument/2006/relationships/hyperlink" Target="https://www.jstor.org/stable/26848513" TargetMode="External"/><Relationship Id="rId2" Type="http://schemas.openxmlformats.org/officeDocument/2006/relationships/image" Target="../media/image1.png"/><Relationship Id="rId16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7.png"/><Relationship Id="rId5" Type="http://schemas.openxmlformats.org/officeDocument/2006/relationships/image" Target="../media/image4.svg"/><Relationship Id="rId15" Type="http://schemas.openxmlformats.org/officeDocument/2006/relationships/image" Target="../media/image15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11.png"/><Relationship Id="rId14" Type="http://schemas.openxmlformats.org/officeDocument/2006/relationships/image" Target="../media/image1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13" Type="http://schemas.openxmlformats.org/officeDocument/2006/relationships/image" Target="../media/image18.png"/><Relationship Id="rId18" Type="http://schemas.openxmlformats.org/officeDocument/2006/relationships/image" Target="../media/image23.png"/><Relationship Id="rId26" Type="http://schemas.openxmlformats.org/officeDocument/2006/relationships/image" Target="../media/image29.png"/><Relationship Id="rId3" Type="http://schemas.openxmlformats.org/officeDocument/2006/relationships/image" Target="../media/image2.png"/><Relationship Id="rId21" Type="http://schemas.openxmlformats.org/officeDocument/2006/relationships/image" Target="../media/image26.svg"/><Relationship Id="rId7" Type="http://schemas.openxmlformats.org/officeDocument/2006/relationships/image" Target="../media/image8.png"/><Relationship Id="rId12" Type="http://schemas.openxmlformats.org/officeDocument/2006/relationships/image" Target="../media/image6.png"/><Relationship Id="rId17" Type="http://schemas.openxmlformats.org/officeDocument/2006/relationships/image" Target="../media/image22.svg"/><Relationship Id="rId25" Type="http://schemas.openxmlformats.org/officeDocument/2006/relationships/image" Target="../media/image28.png"/><Relationship Id="rId2" Type="http://schemas.openxmlformats.org/officeDocument/2006/relationships/image" Target="../media/image17.png"/><Relationship Id="rId16" Type="http://schemas.openxmlformats.org/officeDocument/2006/relationships/image" Target="../media/image21.png"/><Relationship Id="rId20" Type="http://schemas.openxmlformats.org/officeDocument/2006/relationships/image" Target="../media/image2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7.png"/><Relationship Id="rId24" Type="http://schemas.openxmlformats.org/officeDocument/2006/relationships/image" Target="../media/image27.png"/><Relationship Id="rId5" Type="http://schemas.openxmlformats.org/officeDocument/2006/relationships/image" Target="../media/image4.svg"/><Relationship Id="rId15" Type="http://schemas.openxmlformats.org/officeDocument/2006/relationships/image" Target="../media/image20.png"/><Relationship Id="rId23" Type="http://schemas.openxmlformats.org/officeDocument/2006/relationships/image" Target="../media/image11.png"/><Relationship Id="rId28" Type="http://schemas.openxmlformats.org/officeDocument/2006/relationships/image" Target="../media/image31.png"/><Relationship Id="rId10" Type="http://schemas.openxmlformats.org/officeDocument/2006/relationships/image" Target="../media/image9.png"/><Relationship Id="rId19" Type="http://schemas.openxmlformats.org/officeDocument/2006/relationships/image" Target="../media/image24.svg"/><Relationship Id="rId4" Type="http://schemas.openxmlformats.org/officeDocument/2006/relationships/image" Target="../media/image3.png"/><Relationship Id="rId9" Type="http://schemas.openxmlformats.org/officeDocument/2006/relationships/image" Target="../media/image12.png"/><Relationship Id="rId14" Type="http://schemas.openxmlformats.org/officeDocument/2006/relationships/image" Target="../media/image19.svg"/><Relationship Id="rId22" Type="http://schemas.openxmlformats.org/officeDocument/2006/relationships/image" Target="../media/image10.png"/><Relationship Id="rId27" Type="http://schemas.openxmlformats.org/officeDocument/2006/relationships/image" Target="../media/image30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4EFB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028700" cy="10287000"/>
            <a:chOff x="0" y="0"/>
            <a:chExt cx="270933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70933" cy="2709333"/>
            </a:xfrm>
            <a:custGeom>
              <a:avLst/>
              <a:gdLst/>
              <a:ahLst/>
              <a:cxnLst/>
              <a:rect l="l" t="t" r="r" b="b"/>
              <a:pathLst>
                <a:path w="270933" h="2709333">
                  <a:moveTo>
                    <a:pt x="0" y="0"/>
                  </a:moveTo>
                  <a:lnTo>
                    <a:pt x="270933" y="0"/>
                  </a:lnTo>
                  <a:lnTo>
                    <a:pt x="270933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335A28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70933" cy="2747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7480083" y="0"/>
            <a:ext cx="807917" cy="10287000"/>
            <a:chOff x="0" y="0"/>
            <a:chExt cx="212785" cy="270933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12785" cy="2709333"/>
            </a:xfrm>
            <a:custGeom>
              <a:avLst/>
              <a:gdLst/>
              <a:ahLst/>
              <a:cxnLst/>
              <a:rect l="l" t="t" r="r" b="b"/>
              <a:pathLst>
                <a:path w="212785" h="2709333">
                  <a:moveTo>
                    <a:pt x="0" y="0"/>
                  </a:moveTo>
                  <a:lnTo>
                    <a:pt x="212785" y="0"/>
                  </a:lnTo>
                  <a:lnTo>
                    <a:pt x="212785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335A28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212785" cy="2747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767307" y="851332"/>
            <a:ext cx="16712776" cy="8660137"/>
            <a:chOff x="0" y="0"/>
            <a:chExt cx="4401719" cy="2280859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4401719" cy="2280859"/>
            </a:xfrm>
            <a:custGeom>
              <a:avLst/>
              <a:gdLst/>
              <a:ahLst/>
              <a:cxnLst/>
              <a:rect l="l" t="t" r="r" b="b"/>
              <a:pathLst>
                <a:path w="4401719" h="2280859">
                  <a:moveTo>
                    <a:pt x="0" y="0"/>
                  </a:moveTo>
                  <a:lnTo>
                    <a:pt x="4401719" y="0"/>
                  </a:lnTo>
                  <a:lnTo>
                    <a:pt x="4401719" y="2280859"/>
                  </a:lnTo>
                  <a:lnTo>
                    <a:pt x="0" y="2280859"/>
                  </a:lnTo>
                  <a:close/>
                </a:path>
              </a:pathLst>
            </a:custGeom>
            <a:solidFill>
              <a:srgbClr val="D4EFB9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4401719" cy="231895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 rot="5400000">
            <a:off x="8822244" y="-8014327"/>
            <a:ext cx="807917" cy="16836572"/>
            <a:chOff x="0" y="0"/>
            <a:chExt cx="212785" cy="4434323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12785" cy="4434324"/>
            </a:xfrm>
            <a:custGeom>
              <a:avLst/>
              <a:gdLst/>
              <a:ahLst/>
              <a:cxnLst/>
              <a:rect l="l" t="t" r="r" b="b"/>
              <a:pathLst>
                <a:path w="212785" h="4434324">
                  <a:moveTo>
                    <a:pt x="0" y="0"/>
                  </a:moveTo>
                  <a:lnTo>
                    <a:pt x="212785" y="0"/>
                  </a:lnTo>
                  <a:lnTo>
                    <a:pt x="212785" y="4434324"/>
                  </a:lnTo>
                  <a:lnTo>
                    <a:pt x="0" y="4434324"/>
                  </a:lnTo>
                  <a:close/>
                </a:path>
              </a:pathLst>
            </a:custGeom>
            <a:solidFill>
              <a:srgbClr val="335A28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212785" cy="447242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 rot="5400000">
            <a:off x="8822244" y="1464756"/>
            <a:ext cx="807917" cy="16836572"/>
            <a:chOff x="0" y="0"/>
            <a:chExt cx="212785" cy="4434323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212785" cy="4434324"/>
            </a:xfrm>
            <a:custGeom>
              <a:avLst/>
              <a:gdLst/>
              <a:ahLst/>
              <a:cxnLst/>
              <a:rect l="l" t="t" r="r" b="b"/>
              <a:pathLst>
                <a:path w="212785" h="4434324">
                  <a:moveTo>
                    <a:pt x="0" y="0"/>
                  </a:moveTo>
                  <a:lnTo>
                    <a:pt x="212785" y="0"/>
                  </a:lnTo>
                  <a:lnTo>
                    <a:pt x="212785" y="4434324"/>
                  </a:lnTo>
                  <a:lnTo>
                    <a:pt x="0" y="4434324"/>
                  </a:lnTo>
                  <a:close/>
                </a:path>
              </a:pathLst>
            </a:custGeom>
            <a:solidFill>
              <a:srgbClr val="335A28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0" y="-38100"/>
              <a:ext cx="212785" cy="447242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7" name="AutoShape 17"/>
          <p:cNvSpPr/>
          <p:nvPr/>
        </p:nvSpPr>
        <p:spPr>
          <a:xfrm>
            <a:off x="791186" y="818946"/>
            <a:ext cx="16727045" cy="0"/>
          </a:xfrm>
          <a:prstGeom prst="line">
            <a:avLst/>
          </a:prstGeom>
          <a:ln w="38100" cap="flat">
            <a:solidFill>
              <a:srgbClr val="1C3307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8" name="AutoShape 18"/>
          <p:cNvSpPr/>
          <p:nvPr/>
        </p:nvSpPr>
        <p:spPr>
          <a:xfrm>
            <a:off x="767307" y="9511469"/>
            <a:ext cx="16750924" cy="19050"/>
          </a:xfrm>
          <a:prstGeom prst="line">
            <a:avLst/>
          </a:prstGeom>
          <a:ln w="38100" cap="flat">
            <a:solidFill>
              <a:srgbClr val="1C3307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9" name="AutoShape 19"/>
          <p:cNvSpPr/>
          <p:nvPr/>
        </p:nvSpPr>
        <p:spPr>
          <a:xfrm>
            <a:off x="17499181" y="818946"/>
            <a:ext cx="0" cy="8731156"/>
          </a:xfrm>
          <a:prstGeom prst="line">
            <a:avLst/>
          </a:prstGeom>
          <a:ln w="38100" cap="flat">
            <a:solidFill>
              <a:srgbClr val="1C3307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0" name="AutoShape 20"/>
          <p:cNvSpPr/>
          <p:nvPr/>
        </p:nvSpPr>
        <p:spPr>
          <a:xfrm>
            <a:off x="748257" y="807917"/>
            <a:ext cx="0" cy="8731156"/>
          </a:xfrm>
          <a:prstGeom prst="line">
            <a:avLst/>
          </a:prstGeom>
          <a:ln w="38100" cap="flat">
            <a:solidFill>
              <a:srgbClr val="1C3307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1" name="Freeform 21"/>
          <p:cNvSpPr/>
          <p:nvPr/>
        </p:nvSpPr>
        <p:spPr>
          <a:xfrm rot="-10800000">
            <a:off x="-4643370" y="-2273784"/>
            <a:ext cx="9907260" cy="9015607"/>
          </a:xfrm>
          <a:custGeom>
            <a:avLst/>
            <a:gdLst/>
            <a:ahLst/>
            <a:cxnLst/>
            <a:rect l="l" t="t" r="r" b="b"/>
            <a:pathLst>
              <a:path w="9907260" h="9015607">
                <a:moveTo>
                  <a:pt x="0" y="0"/>
                </a:moveTo>
                <a:lnTo>
                  <a:pt x="9907260" y="0"/>
                </a:lnTo>
                <a:lnTo>
                  <a:pt x="9907260" y="9015607"/>
                </a:lnTo>
                <a:lnTo>
                  <a:pt x="0" y="901560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22" name="Freeform 22"/>
          <p:cNvSpPr/>
          <p:nvPr/>
        </p:nvSpPr>
        <p:spPr>
          <a:xfrm rot="3021748">
            <a:off x="15840839" y="6767112"/>
            <a:ext cx="3354783" cy="5283123"/>
          </a:xfrm>
          <a:custGeom>
            <a:avLst/>
            <a:gdLst/>
            <a:ahLst/>
            <a:cxnLst/>
            <a:rect l="l" t="t" r="r" b="b"/>
            <a:pathLst>
              <a:path w="3354783" h="5283123">
                <a:moveTo>
                  <a:pt x="0" y="0"/>
                </a:moveTo>
                <a:lnTo>
                  <a:pt x="3354784" y="0"/>
                </a:lnTo>
                <a:lnTo>
                  <a:pt x="3354784" y="5283124"/>
                </a:lnTo>
                <a:lnTo>
                  <a:pt x="0" y="528312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23" name="Freeform 23"/>
          <p:cNvSpPr/>
          <p:nvPr/>
        </p:nvSpPr>
        <p:spPr>
          <a:xfrm>
            <a:off x="15529108" y="7759584"/>
            <a:ext cx="2115381" cy="1850958"/>
          </a:xfrm>
          <a:custGeom>
            <a:avLst/>
            <a:gdLst/>
            <a:ahLst/>
            <a:cxnLst/>
            <a:rect l="l" t="t" r="r" b="b"/>
            <a:pathLst>
              <a:path w="2115381" h="1850958">
                <a:moveTo>
                  <a:pt x="0" y="0"/>
                </a:moveTo>
                <a:lnTo>
                  <a:pt x="2115380" y="0"/>
                </a:lnTo>
                <a:lnTo>
                  <a:pt x="2115380" y="1850958"/>
                </a:lnTo>
                <a:lnTo>
                  <a:pt x="0" y="185095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24" name="Freeform 24"/>
          <p:cNvSpPr/>
          <p:nvPr/>
        </p:nvSpPr>
        <p:spPr>
          <a:xfrm>
            <a:off x="17106152" y="3426237"/>
            <a:ext cx="1607655" cy="1471004"/>
          </a:xfrm>
          <a:custGeom>
            <a:avLst/>
            <a:gdLst/>
            <a:ahLst/>
            <a:cxnLst/>
            <a:rect l="l" t="t" r="r" b="b"/>
            <a:pathLst>
              <a:path w="1607655" h="1471004">
                <a:moveTo>
                  <a:pt x="0" y="0"/>
                </a:moveTo>
                <a:lnTo>
                  <a:pt x="1607655" y="0"/>
                </a:lnTo>
                <a:lnTo>
                  <a:pt x="1607655" y="1471004"/>
                </a:lnTo>
                <a:lnTo>
                  <a:pt x="0" y="147100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25" name="TextBox 25"/>
          <p:cNvSpPr txBox="1"/>
          <p:nvPr/>
        </p:nvSpPr>
        <p:spPr>
          <a:xfrm>
            <a:off x="1055264" y="957456"/>
            <a:ext cx="16177472" cy="20057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097"/>
              </a:lnSpc>
              <a:spcBef>
                <a:spcPct val="0"/>
              </a:spcBef>
            </a:pPr>
            <a:r>
              <a:rPr lang="en-US" sz="5783">
                <a:solidFill>
                  <a:srgbClr val="3E5532"/>
                </a:solidFill>
                <a:latin typeface="Alice Bold"/>
                <a:ea typeface="Alice Bold"/>
                <a:cs typeface="Alice Bold"/>
                <a:sym typeface="Alice Bold"/>
              </a:rPr>
              <a:t>Como é que a cor afeta a predação de uma lagarta?</a:t>
            </a:r>
          </a:p>
        </p:txBody>
      </p:sp>
      <p:sp>
        <p:nvSpPr>
          <p:cNvPr id="26" name="Freeform 26"/>
          <p:cNvSpPr/>
          <p:nvPr/>
        </p:nvSpPr>
        <p:spPr>
          <a:xfrm rot="-4814165">
            <a:off x="4986543" y="-1134444"/>
            <a:ext cx="2470982" cy="2688059"/>
          </a:xfrm>
          <a:custGeom>
            <a:avLst/>
            <a:gdLst/>
            <a:ahLst/>
            <a:cxnLst/>
            <a:rect l="l" t="t" r="r" b="b"/>
            <a:pathLst>
              <a:path w="2470982" h="2688059">
                <a:moveTo>
                  <a:pt x="0" y="0"/>
                </a:moveTo>
                <a:lnTo>
                  <a:pt x="2470981" y="0"/>
                </a:lnTo>
                <a:lnTo>
                  <a:pt x="2470981" y="2688059"/>
                </a:lnTo>
                <a:lnTo>
                  <a:pt x="0" y="268805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27" name="Freeform 27"/>
          <p:cNvSpPr/>
          <p:nvPr/>
        </p:nvSpPr>
        <p:spPr>
          <a:xfrm rot="-2858403">
            <a:off x="10398286" y="-1004874"/>
            <a:ext cx="2443241" cy="3125413"/>
          </a:xfrm>
          <a:custGeom>
            <a:avLst/>
            <a:gdLst/>
            <a:ahLst/>
            <a:cxnLst/>
            <a:rect l="l" t="t" r="r" b="b"/>
            <a:pathLst>
              <a:path w="2443241" h="3125413">
                <a:moveTo>
                  <a:pt x="0" y="0"/>
                </a:moveTo>
                <a:lnTo>
                  <a:pt x="2443241" y="0"/>
                </a:lnTo>
                <a:lnTo>
                  <a:pt x="2443241" y="3125414"/>
                </a:lnTo>
                <a:lnTo>
                  <a:pt x="0" y="312541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28" name="Freeform 28"/>
          <p:cNvSpPr/>
          <p:nvPr/>
        </p:nvSpPr>
        <p:spPr>
          <a:xfrm rot="7262528">
            <a:off x="-81381" y="-848269"/>
            <a:ext cx="2220161" cy="2812204"/>
          </a:xfrm>
          <a:custGeom>
            <a:avLst/>
            <a:gdLst/>
            <a:ahLst/>
            <a:cxnLst/>
            <a:rect l="l" t="t" r="r" b="b"/>
            <a:pathLst>
              <a:path w="2220161" h="2812204">
                <a:moveTo>
                  <a:pt x="0" y="0"/>
                </a:moveTo>
                <a:lnTo>
                  <a:pt x="2220162" y="0"/>
                </a:lnTo>
                <a:lnTo>
                  <a:pt x="2220162" y="2812204"/>
                </a:lnTo>
                <a:lnTo>
                  <a:pt x="0" y="2812204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29" name="Freeform 29"/>
          <p:cNvSpPr/>
          <p:nvPr/>
        </p:nvSpPr>
        <p:spPr>
          <a:xfrm rot="3664385">
            <a:off x="16099796" y="148104"/>
            <a:ext cx="2319008" cy="1761192"/>
          </a:xfrm>
          <a:custGeom>
            <a:avLst/>
            <a:gdLst/>
            <a:ahLst/>
            <a:cxnLst/>
            <a:rect l="l" t="t" r="r" b="b"/>
            <a:pathLst>
              <a:path w="2319008" h="1761192">
                <a:moveTo>
                  <a:pt x="0" y="0"/>
                </a:moveTo>
                <a:lnTo>
                  <a:pt x="2319008" y="0"/>
                </a:lnTo>
                <a:lnTo>
                  <a:pt x="2319008" y="1761192"/>
                </a:lnTo>
                <a:lnTo>
                  <a:pt x="0" y="1761192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  <p:sp>
        <p:nvSpPr>
          <p:cNvPr id="30" name="Freeform 30"/>
          <p:cNvSpPr/>
          <p:nvPr/>
        </p:nvSpPr>
        <p:spPr>
          <a:xfrm rot="-9172209">
            <a:off x="-500285" y="4133626"/>
            <a:ext cx="2215247" cy="2611681"/>
          </a:xfrm>
          <a:custGeom>
            <a:avLst/>
            <a:gdLst/>
            <a:ahLst/>
            <a:cxnLst/>
            <a:rect l="l" t="t" r="r" b="b"/>
            <a:pathLst>
              <a:path w="2215247" h="2611681">
                <a:moveTo>
                  <a:pt x="0" y="0"/>
                </a:moveTo>
                <a:lnTo>
                  <a:pt x="2215247" y="0"/>
                </a:lnTo>
                <a:lnTo>
                  <a:pt x="2215247" y="2611681"/>
                </a:lnTo>
                <a:lnTo>
                  <a:pt x="0" y="2611681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t="-5479"/>
            </a:stretch>
          </a:blipFill>
        </p:spPr>
      </p:sp>
      <p:sp>
        <p:nvSpPr>
          <p:cNvPr id="31" name="Freeform 31"/>
          <p:cNvSpPr/>
          <p:nvPr/>
        </p:nvSpPr>
        <p:spPr>
          <a:xfrm rot="4535629">
            <a:off x="-792943" y="7351654"/>
            <a:ext cx="3168257" cy="3813291"/>
          </a:xfrm>
          <a:custGeom>
            <a:avLst/>
            <a:gdLst/>
            <a:ahLst/>
            <a:cxnLst/>
            <a:rect l="l" t="t" r="r" b="b"/>
            <a:pathLst>
              <a:path w="3168257" h="3813291">
                <a:moveTo>
                  <a:pt x="0" y="0"/>
                </a:moveTo>
                <a:lnTo>
                  <a:pt x="3168257" y="0"/>
                </a:lnTo>
                <a:lnTo>
                  <a:pt x="3168257" y="3813292"/>
                </a:lnTo>
                <a:lnTo>
                  <a:pt x="0" y="3813292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</p:sp>
      <p:sp>
        <p:nvSpPr>
          <p:cNvPr id="32" name="Freeform 32"/>
          <p:cNvSpPr/>
          <p:nvPr/>
        </p:nvSpPr>
        <p:spPr>
          <a:xfrm rot="-4304952">
            <a:off x="5661600" y="8326237"/>
            <a:ext cx="2577509" cy="2652814"/>
          </a:xfrm>
          <a:custGeom>
            <a:avLst/>
            <a:gdLst/>
            <a:ahLst/>
            <a:cxnLst/>
            <a:rect l="l" t="t" r="r" b="b"/>
            <a:pathLst>
              <a:path w="2577509" h="2652814">
                <a:moveTo>
                  <a:pt x="0" y="0"/>
                </a:moveTo>
                <a:lnTo>
                  <a:pt x="2577509" y="0"/>
                </a:lnTo>
                <a:lnTo>
                  <a:pt x="2577509" y="2652814"/>
                </a:lnTo>
                <a:lnTo>
                  <a:pt x="0" y="2652814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b="-2727"/>
            </a:stretch>
          </a:blipFill>
        </p:spPr>
      </p:sp>
      <p:sp>
        <p:nvSpPr>
          <p:cNvPr id="33" name="Freeform 33"/>
          <p:cNvSpPr/>
          <p:nvPr/>
        </p:nvSpPr>
        <p:spPr>
          <a:xfrm rot="-6706366">
            <a:off x="11572374" y="8382738"/>
            <a:ext cx="1938639" cy="2455609"/>
          </a:xfrm>
          <a:custGeom>
            <a:avLst/>
            <a:gdLst/>
            <a:ahLst/>
            <a:cxnLst/>
            <a:rect l="l" t="t" r="r" b="b"/>
            <a:pathLst>
              <a:path w="1938639" h="2455609">
                <a:moveTo>
                  <a:pt x="0" y="0"/>
                </a:moveTo>
                <a:lnTo>
                  <a:pt x="1938639" y="0"/>
                </a:lnTo>
                <a:lnTo>
                  <a:pt x="1938639" y="2455609"/>
                </a:lnTo>
                <a:lnTo>
                  <a:pt x="0" y="245560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34" name="Freeform 34"/>
          <p:cNvSpPr/>
          <p:nvPr/>
        </p:nvSpPr>
        <p:spPr>
          <a:xfrm>
            <a:off x="5165287" y="5327876"/>
            <a:ext cx="7957427" cy="2956628"/>
          </a:xfrm>
          <a:custGeom>
            <a:avLst/>
            <a:gdLst/>
            <a:ahLst/>
            <a:cxnLst/>
            <a:rect l="l" t="t" r="r" b="b"/>
            <a:pathLst>
              <a:path w="7957427" h="2956628">
                <a:moveTo>
                  <a:pt x="0" y="0"/>
                </a:moveTo>
                <a:lnTo>
                  <a:pt x="7957426" y="0"/>
                </a:lnTo>
                <a:lnTo>
                  <a:pt x="7957426" y="2956627"/>
                </a:lnTo>
                <a:lnTo>
                  <a:pt x="0" y="2956627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t="-1006" b="-123412"/>
            </a:stretch>
          </a:blipFill>
        </p:spPr>
      </p:sp>
      <p:sp>
        <p:nvSpPr>
          <p:cNvPr id="35" name="TextBox 35"/>
          <p:cNvSpPr txBox="1"/>
          <p:nvPr/>
        </p:nvSpPr>
        <p:spPr>
          <a:xfrm>
            <a:off x="2985237" y="3105590"/>
            <a:ext cx="12317525" cy="20132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18432" lvl="1" indent="-309216" algn="l">
              <a:lnSpc>
                <a:spcPts val="4010"/>
              </a:lnSpc>
              <a:buFont typeface="Arial"/>
              <a:buChar char="•"/>
            </a:pPr>
            <a:r>
              <a:rPr lang="en-US" sz="2864" dirty="0">
                <a:solidFill>
                  <a:srgbClr val="3E5532"/>
                </a:solidFill>
                <a:latin typeface="Alice"/>
                <a:ea typeface="Alice"/>
                <a:cs typeface="Alice"/>
                <a:sym typeface="Alice"/>
              </a:rPr>
              <a:t>A </a:t>
            </a:r>
            <a:r>
              <a:rPr lang="en-US" sz="2864" dirty="0" err="1">
                <a:solidFill>
                  <a:srgbClr val="3E5532"/>
                </a:solidFill>
                <a:latin typeface="Alice"/>
                <a:ea typeface="Alice"/>
                <a:cs typeface="Alice"/>
                <a:sym typeface="Alice"/>
              </a:rPr>
              <a:t>nossa</a:t>
            </a:r>
            <a:r>
              <a:rPr lang="en-US" sz="2864" dirty="0">
                <a:solidFill>
                  <a:srgbClr val="3E5532"/>
                </a:solidFill>
                <a:latin typeface="Alice"/>
                <a:ea typeface="Alice"/>
                <a:cs typeface="Alice"/>
                <a:sym typeface="Alice"/>
              </a:rPr>
              <a:t> </a:t>
            </a:r>
            <a:r>
              <a:rPr lang="en-US" sz="2864" dirty="0" err="1">
                <a:solidFill>
                  <a:srgbClr val="3E5532"/>
                </a:solidFill>
                <a:latin typeface="Alice"/>
                <a:ea typeface="Alice"/>
                <a:cs typeface="Alice"/>
                <a:sym typeface="Alice"/>
              </a:rPr>
              <a:t>questão</a:t>
            </a:r>
            <a:r>
              <a:rPr lang="en-US" sz="2864" dirty="0">
                <a:solidFill>
                  <a:srgbClr val="3E5532"/>
                </a:solidFill>
                <a:latin typeface="Alice"/>
                <a:ea typeface="Alice"/>
                <a:cs typeface="Alice"/>
                <a:sym typeface="Alice"/>
              </a:rPr>
              <a:t> </a:t>
            </a:r>
            <a:r>
              <a:rPr lang="en-US" sz="2864" dirty="0" err="1">
                <a:solidFill>
                  <a:srgbClr val="3E5532"/>
                </a:solidFill>
                <a:latin typeface="Alice"/>
                <a:ea typeface="Alice"/>
                <a:cs typeface="Alice"/>
                <a:sym typeface="Alice"/>
              </a:rPr>
              <a:t>baseia</a:t>
            </a:r>
            <a:r>
              <a:rPr lang="en-US" sz="2864" dirty="0">
                <a:solidFill>
                  <a:srgbClr val="3E5532"/>
                </a:solidFill>
                <a:latin typeface="Alice"/>
                <a:ea typeface="Alice"/>
                <a:cs typeface="Alice"/>
                <a:sym typeface="Alice"/>
              </a:rPr>
              <a:t>-se </a:t>
            </a:r>
            <a:r>
              <a:rPr lang="en-US" sz="2864" dirty="0" err="1">
                <a:solidFill>
                  <a:srgbClr val="3E5532"/>
                </a:solidFill>
                <a:latin typeface="Alice"/>
                <a:ea typeface="Alice"/>
                <a:cs typeface="Alice"/>
                <a:sym typeface="Alice"/>
              </a:rPr>
              <a:t>nas</a:t>
            </a:r>
            <a:r>
              <a:rPr lang="en-US" sz="2864" dirty="0">
                <a:solidFill>
                  <a:srgbClr val="3E5532"/>
                </a:solidFill>
                <a:latin typeface="Alice"/>
                <a:ea typeface="Alice"/>
                <a:cs typeface="Alice"/>
                <a:sym typeface="Alice"/>
              </a:rPr>
              <a:t> </a:t>
            </a:r>
            <a:r>
              <a:rPr lang="en-US" sz="2864" dirty="0" err="1">
                <a:solidFill>
                  <a:srgbClr val="3E5532"/>
                </a:solidFill>
                <a:latin typeface="Alice"/>
                <a:ea typeface="Alice"/>
                <a:cs typeface="Alice"/>
                <a:sym typeface="Alice"/>
              </a:rPr>
              <a:t>interações</a:t>
            </a:r>
            <a:r>
              <a:rPr lang="en-US" sz="2864" dirty="0">
                <a:solidFill>
                  <a:srgbClr val="3E5532"/>
                </a:solidFill>
                <a:latin typeface="Alice"/>
                <a:ea typeface="Alice"/>
                <a:cs typeface="Alice"/>
                <a:sym typeface="Alice"/>
              </a:rPr>
              <a:t> </a:t>
            </a:r>
            <a:r>
              <a:rPr lang="en-US" sz="2864" dirty="0" err="1">
                <a:solidFill>
                  <a:srgbClr val="3E5532"/>
                </a:solidFill>
                <a:latin typeface="Alice"/>
                <a:ea typeface="Alice"/>
                <a:cs typeface="Alice"/>
                <a:sym typeface="Alice"/>
              </a:rPr>
              <a:t>interespecíficas</a:t>
            </a:r>
            <a:r>
              <a:rPr lang="en-US" sz="2864" dirty="0">
                <a:solidFill>
                  <a:srgbClr val="3E5532"/>
                </a:solidFill>
                <a:latin typeface="Alice"/>
                <a:ea typeface="Alice"/>
                <a:cs typeface="Alice"/>
                <a:sym typeface="Alice"/>
              </a:rPr>
              <a:t>, </a:t>
            </a:r>
            <a:r>
              <a:rPr lang="en-US" sz="2864" dirty="0" err="1">
                <a:solidFill>
                  <a:srgbClr val="3E5532"/>
                </a:solidFill>
                <a:latin typeface="Alice"/>
                <a:ea typeface="Alice"/>
                <a:cs typeface="Alice"/>
                <a:sym typeface="Alice"/>
              </a:rPr>
              <a:t>em</a:t>
            </a:r>
            <a:r>
              <a:rPr lang="en-US" sz="2864" dirty="0">
                <a:solidFill>
                  <a:srgbClr val="3E5532"/>
                </a:solidFill>
                <a:latin typeface="Alice"/>
                <a:ea typeface="Alice"/>
                <a:cs typeface="Alice"/>
                <a:sym typeface="Alice"/>
              </a:rPr>
              <a:t> </a:t>
            </a:r>
            <a:r>
              <a:rPr lang="en-US" sz="2864" dirty="0" err="1">
                <a:solidFill>
                  <a:srgbClr val="3E5532"/>
                </a:solidFill>
                <a:latin typeface="Alice"/>
                <a:ea typeface="Alice"/>
                <a:cs typeface="Alice"/>
                <a:sym typeface="Alice"/>
              </a:rPr>
              <a:t>específico</a:t>
            </a:r>
            <a:r>
              <a:rPr lang="en-US" sz="2864" dirty="0">
                <a:solidFill>
                  <a:srgbClr val="3E5532"/>
                </a:solidFill>
                <a:latin typeface="Alice"/>
                <a:ea typeface="Alice"/>
                <a:cs typeface="Alice"/>
                <a:sym typeface="Alice"/>
              </a:rPr>
              <a:t> a </a:t>
            </a:r>
            <a:r>
              <a:rPr lang="en-US" sz="2864" dirty="0" err="1">
                <a:solidFill>
                  <a:srgbClr val="3E5532"/>
                </a:solidFill>
                <a:latin typeface="Alice"/>
                <a:ea typeface="Alice"/>
                <a:cs typeface="Alice"/>
                <a:sym typeface="Alice"/>
              </a:rPr>
              <a:t>predação</a:t>
            </a:r>
            <a:r>
              <a:rPr lang="en-US" sz="2864" dirty="0">
                <a:solidFill>
                  <a:srgbClr val="3E5532"/>
                </a:solidFill>
                <a:latin typeface="Alice"/>
                <a:ea typeface="Alice"/>
                <a:cs typeface="Alice"/>
                <a:sym typeface="Alice"/>
              </a:rPr>
              <a:t>, e as </a:t>
            </a:r>
            <a:r>
              <a:rPr lang="en-US" sz="2864" dirty="0" err="1">
                <a:solidFill>
                  <a:srgbClr val="3E5532"/>
                </a:solidFill>
                <a:latin typeface="Alice"/>
                <a:ea typeface="Alice"/>
                <a:cs typeface="Alice"/>
                <a:sym typeface="Alice"/>
              </a:rPr>
              <a:t>adaptações</a:t>
            </a:r>
            <a:r>
              <a:rPr lang="en-US" sz="2864" dirty="0">
                <a:solidFill>
                  <a:srgbClr val="3E5532"/>
                </a:solidFill>
                <a:latin typeface="Alice"/>
                <a:ea typeface="Alice"/>
                <a:cs typeface="Alice"/>
                <a:sym typeface="Alice"/>
              </a:rPr>
              <a:t> que delas </a:t>
            </a:r>
            <a:r>
              <a:rPr lang="en-US" sz="2864" dirty="0" err="1">
                <a:solidFill>
                  <a:srgbClr val="3E5532"/>
                </a:solidFill>
                <a:latin typeface="Alice"/>
                <a:ea typeface="Alice"/>
                <a:cs typeface="Alice"/>
                <a:sym typeface="Alice"/>
              </a:rPr>
              <a:t>provieram</a:t>
            </a:r>
            <a:r>
              <a:rPr lang="en-US" sz="2864" dirty="0">
                <a:solidFill>
                  <a:srgbClr val="3E5532"/>
                </a:solidFill>
                <a:latin typeface="Alice"/>
                <a:ea typeface="Alice"/>
                <a:cs typeface="Alice"/>
                <a:sym typeface="Alice"/>
              </a:rPr>
              <a:t> (</a:t>
            </a:r>
            <a:r>
              <a:rPr lang="en-US" sz="2864" dirty="0" err="1">
                <a:solidFill>
                  <a:srgbClr val="3E5532"/>
                </a:solidFill>
                <a:latin typeface="Alice"/>
                <a:ea typeface="Alice"/>
                <a:cs typeface="Alice"/>
                <a:sym typeface="Alice"/>
              </a:rPr>
              <a:t>camuflagem</a:t>
            </a:r>
            <a:r>
              <a:rPr lang="en-US" sz="2864" dirty="0">
                <a:solidFill>
                  <a:srgbClr val="3E5532"/>
                </a:solidFill>
                <a:latin typeface="Alice"/>
                <a:ea typeface="Alice"/>
                <a:cs typeface="Alice"/>
                <a:sym typeface="Alice"/>
              </a:rPr>
              <a:t>).</a:t>
            </a:r>
          </a:p>
          <a:p>
            <a:pPr marL="618432" lvl="1" indent="-309216" algn="l">
              <a:lnSpc>
                <a:spcPts val="4010"/>
              </a:lnSpc>
              <a:buFont typeface="Arial"/>
              <a:buChar char="•"/>
            </a:pPr>
            <a:r>
              <a:rPr lang="en-US" sz="2864" i="1" dirty="0">
                <a:solidFill>
                  <a:srgbClr val="3E5532"/>
                </a:solidFill>
                <a:latin typeface="Alice Italics"/>
                <a:ea typeface="Alice Italics"/>
                <a:cs typeface="Alice Italics"/>
                <a:sym typeface="Alice Italics"/>
              </a:rPr>
              <a:t>Brainstorming</a:t>
            </a:r>
            <a:r>
              <a:rPr lang="en-US" sz="2864" dirty="0">
                <a:solidFill>
                  <a:srgbClr val="3E5532"/>
                </a:solidFill>
                <a:latin typeface="Alice"/>
                <a:ea typeface="Alice"/>
                <a:cs typeface="Alice"/>
                <a:sym typeface="Alice"/>
              </a:rPr>
              <a:t>, </a:t>
            </a:r>
            <a:r>
              <a:rPr lang="en-US" sz="2864" dirty="0" err="1">
                <a:solidFill>
                  <a:srgbClr val="3E5532"/>
                </a:solidFill>
                <a:latin typeface="Alice"/>
                <a:ea typeface="Alice"/>
                <a:cs typeface="Alice"/>
                <a:sym typeface="Alice"/>
              </a:rPr>
              <a:t>análise</a:t>
            </a:r>
            <a:r>
              <a:rPr lang="en-US" sz="2864" dirty="0">
                <a:solidFill>
                  <a:srgbClr val="3E5532"/>
                </a:solidFill>
                <a:latin typeface="Alice"/>
                <a:ea typeface="Alice"/>
                <a:cs typeface="Alice"/>
                <a:sym typeface="Alice"/>
              </a:rPr>
              <a:t> de </a:t>
            </a:r>
            <a:r>
              <a:rPr lang="en-US" sz="2864" dirty="0" err="1">
                <a:solidFill>
                  <a:srgbClr val="3E5532"/>
                </a:solidFill>
                <a:latin typeface="Alice"/>
                <a:ea typeface="Alice"/>
                <a:cs typeface="Alice"/>
                <a:sym typeface="Alice"/>
              </a:rPr>
              <a:t>possíveis</a:t>
            </a:r>
            <a:r>
              <a:rPr lang="en-US" sz="2864" dirty="0">
                <a:solidFill>
                  <a:srgbClr val="3E5532"/>
                </a:solidFill>
                <a:latin typeface="Alice"/>
                <a:ea typeface="Alice"/>
                <a:cs typeface="Alice"/>
                <a:sym typeface="Alice"/>
              </a:rPr>
              <a:t> </a:t>
            </a:r>
            <a:r>
              <a:rPr lang="en-US" sz="2864" dirty="0" err="1">
                <a:solidFill>
                  <a:srgbClr val="3E5532"/>
                </a:solidFill>
                <a:latin typeface="Alice"/>
                <a:ea typeface="Alice"/>
                <a:cs typeface="Alice"/>
                <a:sym typeface="Alice"/>
              </a:rPr>
              <a:t>variáveis</a:t>
            </a:r>
            <a:r>
              <a:rPr lang="en-US" sz="2864" dirty="0">
                <a:solidFill>
                  <a:srgbClr val="3E5532"/>
                </a:solidFill>
                <a:latin typeface="Alice"/>
                <a:ea typeface="Alice"/>
                <a:cs typeface="Alice"/>
                <a:sym typeface="Alice"/>
              </a:rPr>
              <a:t>, </a:t>
            </a:r>
            <a:r>
              <a:rPr lang="en-US" sz="2864" dirty="0" err="1">
                <a:solidFill>
                  <a:srgbClr val="3E5532"/>
                </a:solidFill>
                <a:latin typeface="Alice"/>
                <a:ea typeface="Alice"/>
                <a:cs typeface="Alice"/>
                <a:sym typeface="Alice"/>
              </a:rPr>
              <a:t>procura</a:t>
            </a:r>
            <a:r>
              <a:rPr lang="en-US" sz="2864" dirty="0">
                <a:solidFill>
                  <a:srgbClr val="3E5532"/>
                </a:solidFill>
                <a:latin typeface="Alice"/>
                <a:ea typeface="Alice"/>
                <a:cs typeface="Alice"/>
                <a:sym typeface="Alice"/>
              </a:rPr>
              <a:t> de </a:t>
            </a:r>
            <a:r>
              <a:rPr lang="en-US" sz="2864" dirty="0" err="1">
                <a:solidFill>
                  <a:srgbClr val="3E5532"/>
                </a:solidFill>
                <a:latin typeface="Alice"/>
                <a:ea typeface="Alice"/>
                <a:cs typeface="Alice"/>
                <a:sym typeface="Alice"/>
              </a:rPr>
              <a:t>artigos</a:t>
            </a:r>
            <a:r>
              <a:rPr lang="en-US" sz="2864" dirty="0">
                <a:solidFill>
                  <a:srgbClr val="3E5532"/>
                </a:solidFill>
                <a:latin typeface="Alice"/>
                <a:ea typeface="Alice"/>
                <a:cs typeface="Alice"/>
                <a:sym typeface="Alice"/>
              </a:rPr>
              <a:t>.</a:t>
            </a:r>
          </a:p>
          <a:p>
            <a:pPr marL="618432" lvl="1" indent="-309216" algn="l">
              <a:lnSpc>
                <a:spcPts val="4010"/>
              </a:lnSpc>
              <a:spcBef>
                <a:spcPct val="0"/>
              </a:spcBef>
              <a:buFont typeface="Arial"/>
              <a:buChar char="•"/>
            </a:pPr>
            <a:r>
              <a:rPr lang="en-US" sz="2864" dirty="0" err="1">
                <a:solidFill>
                  <a:srgbClr val="3E5532"/>
                </a:solidFill>
                <a:latin typeface="Alice"/>
                <a:ea typeface="Alice"/>
                <a:cs typeface="Alice"/>
                <a:sym typeface="Alice"/>
              </a:rPr>
              <a:t>Artigo</a:t>
            </a:r>
            <a:r>
              <a:rPr lang="en-US" sz="2864" dirty="0">
                <a:solidFill>
                  <a:srgbClr val="3E5532"/>
                </a:solidFill>
                <a:latin typeface="Alice"/>
                <a:ea typeface="Alice"/>
                <a:cs typeface="Alice"/>
                <a:sym typeface="Alice"/>
              </a:rPr>
              <a:t> que </a:t>
            </a:r>
            <a:r>
              <a:rPr lang="en-US" sz="2864" dirty="0" err="1">
                <a:solidFill>
                  <a:srgbClr val="3E5532"/>
                </a:solidFill>
                <a:latin typeface="Alice"/>
                <a:ea typeface="Alice"/>
                <a:cs typeface="Alice"/>
                <a:sym typeface="Alice"/>
              </a:rPr>
              <a:t>nos</a:t>
            </a:r>
            <a:r>
              <a:rPr lang="en-US" sz="2864" dirty="0">
                <a:solidFill>
                  <a:srgbClr val="3E5532"/>
                </a:solidFill>
                <a:latin typeface="Alice"/>
                <a:ea typeface="Alice"/>
                <a:cs typeface="Alice"/>
                <a:sym typeface="Alice"/>
              </a:rPr>
              <a:t> </a:t>
            </a:r>
            <a:r>
              <a:rPr lang="en-US" sz="2864" dirty="0" err="1">
                <a:solidFill>
                  <a:srgbClr val="3E5532"/>
                </a:solidFill>
                <a:latin typeface="Alice"/>
                <a:ea typeface="Alice"/>
                <a:cs typeface="Alice"/>
                <a:sym typeface="Alice"/>
              </a:rPr>
              <a:t>inspirou</a:t>
            </a:r>
            <a:r>
              <a:rPr lang="en-US" sz="2864" dirty="0">
                <a:solidFill>
                  <a:srgbClr val="3E5532"/>
                </a:solidFill>
                <a:latin typeface="Alice"/>
                <a:ea typeface="Alice"/>
                <a:cs typeface="Alice"/>
                <a:sym typeface="Alice"/>
              </a:rPr>
              <a:t>: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4885382" y="8337718"/>
            <a:ext cx="8517236" cy="6565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3E5532"/>
                </a:solidFill>
                <a:latin typeface="Open Sans"/>
                <a:ea typeface="Open Sans"/>
                <a:cs typeface="Open Sans"/>
                <a:sym typeface="Open Sans"/>
              </a:rPr>
              <a:t>Figura 1: </a:t>
            </a:r>
            <a:r>
              <a:rPr lang="en-US" sz="1899" u="sng">
                <a:solidFill>
                  <a:srgbClr val="3E5532"/>
                </a:solidFill>
                <a:latin typeface="Open Sans"/>
                <a:ea typeface="Open Sans"/>
                <a:cs typeface="Open Sans"/>
                <a:sym typeface="Open Sans"/>
              </a:rPr>
              <a:t>Predation on Plasticine Model Caterpillars: Engaging High School Students Using Field-Based Experiential Learning &amp; the Scientific Process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1795426" y="9023154"/>
            <a:ext cx="4299982" cy="5073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60"/>
              </a:lnSpc>
            </a:pPr>
            <a:r>
              <a:rPr lang="en-US" sz="2900">
                <a:solidFill>
                  <a:srgbClr val="3E5532"/>
                </a:solidFill>
                <a:latin typeface="Alice"/>
                <a:ea typeface="Alice"/>
                <a:cs typeface="Alice"/>
                <a:sym typeface="Alice"/>
              </a:rPr>
              <a:t>Maria Sobral nº63537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4EFB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807917" cy="10287000"/>
            <a:chOff x="0" y="0"/>
            <a:chExt cx="212785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2785" cy="2709333"/>
            </a:xfrm>
            <a:custGeom>
              <a:avLst/>
              <a:gdLst/>
              <a:ahLst/>
              <a:cxnLst/>
              <a:rect l="l" t="t" r="r" b="b"/>
              <a:pathLst>
                <a:path w="212785" h="2709333">
                  <a:moveTo>
                    <a:pt x="0" y="0"/>
                  </a:moveTo>
                  <a:lnTo>
                    <a:pt x="212785" y="0"/>
                  </a:lnTo>
                  <a:lnTo>
                    <a:pt x="212785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335A28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12785" cy="2747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7480083" y="0"/>
            <a:ext cx="807917" cy="10287000"/>
            <a:chOff x="0" y="0"/>
            <a:chExt cx="212785" cy="270933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12785" cy="2709333"/>
            </a:xfrm>
            <a:custGeom>
              <a:avLst/>
              <a:gdLst/>
              <a:ahLst/>
              <a:cxnLst/>
              <a:rect l="l" t="t" r="r" b="b"/>
              <a:pathLst>
                <a:path w="212785" h="2709333">
                  <a:moveTo>
                    <a:pt x="0" y="0"/>
                  </a:moveTo>
                  <a:lnTo>
                    <a:pt x="212785" y="0"/>
                  </a:lnTo>
                  <a:lnTo>
                    <a:pt x="212785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335A28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212785" cy="2747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 rot="5400000">
            <a:off x="8822244" y="-8014327"/>
            <a:ext cx="807917" cy="16836572"/>
            <a:chOff x="0" y="0"/>
            <a:chExt cx="212785" cy="4434323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12785" cy="4434324"/>
            </a:xfrm>
            <a:custGeom>
              <a:avLst/>
              <a:gdLst/>
              <a:ahLst/>
              <a:cxnLst/>
              <a:rect l="l" t="t" r="r" b="b"/>
              <a:pathLst>
                <a:path w="212785" h="4434324">
                  <a:moveTo>
                    <a:pt x="0" y="0"/>
                  </a:moveTo>
                  <a:lnTo>
                    <a:pt x="212785" y="0"/>
                  </a:lnTo>
                  <a:lnTo>
                    <a:pt x="212785" y="4434324"/>
                  </a:lnTo>
                  <a:lnTo>
                    <a:pt x="0" y="4434324"/>
                  </a:lnTo>
                  <a:close/>
                </a:path>
              </a:pathLst>
            </a:custGeom>
            <a:solidFill>
              <a:srgbClr val="335A28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212785" cy="447242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 rot="5400000">
            <a:off x="8822244" y="1464756"/>
            <a:ext cx="807917" cy="16836572"/>
            <a:chOff x="0" y="0"/>
            <a:chExt cx="212785" cy="4434323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12785" cy="4434324"/>
            </a:xfrm>
            <a:custGeom>
              <a:avLst/>
              <a:gdLst/>
              <a:ahLst/>
              <a:cxnLst/>
              <a:rect l="l" t="t" r="r" b="b"/>
              <a:pathLst>
                <a:path w="212785" h="4434324">
                  <a:moveTo>
                    <a:pt x="0" y="0"/>
                  </a:moveTo>
                  <a:lnTo>
                    <a:pt x="212785" y="0"/>
                  </a:lnTo>
                  <a:lnTo>
                    <a:pt x="212785" y="4434324"/>
                  </a:lnTo>
                  <a:lnTo>
                    <a:pt x="0" y="4434324"/>
                  </a:lnTo>
                  <a:close/>
                </a:path>
              </a:pathLst>
            </a:custGeom>
            <a:solidFill>
              <a:srgbClr val="335A28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212785" cy="447242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767307" y="851332"/>
            <a:ext cx="16712776" cy="8660137"/>
            <a:chOff x="0" y="0"/>
            <a:chExt cx="4401719" cy="228085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4401719" cy="2280859"/>
            </a:xfrm>
            <a:custGeom>
              <a:avLst/>
              <a:gdLst/>
              <a:ahLst/>
              <a:cxnLst/>
              <a:rect l="l" t="t" r="r" b="b"/>
              <a:pathLst>
                <a:path w="4401719" h="2280859">
                  <a:moveTo>
                    <a:pt x="0" y="0"/>
                  </a:moveTo>
                  <a:lnTo>
                    <a:pt x="4401719" y="0"/>
                  </a:lnTo>
                  <a:lnTo>
                    <a:pt x="4401719" y="2280859"/>
                  </a:lnTo>
                  <a:lnTo>
                    <a:pt x="0" y="2280859"/>
                  </a:lnTo>
                  <a:close/>
                </a:path>
              </a:pathLst>
            </a:custGeom>
            <a:solidFill>
              <a:srgbClr val="D4EFB9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0" y="-38100"/>
              <a:ext cx="4401719" cy="231895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7" name="AutoShape 17"/>
          <p:cNvSpPr/>
          <p:nvPr/>
        </p:nvSpPr>
        <p:spPr>
          <a:xfrm>
            <a:off x="791186" y="818946"/>
            <a:ext cx="16727045" cy="0"/>
          </a:xfrm>
          <a:prstGeom prst="line">
            <a:avLst/>
          </a:prstGeom>
          <a:ln w="38100" cap="flat">
            <a:solidFill>
              <a:srgbClr val="1C3307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8" name="AutoShape 18"/>
          <p:cNvSpPr/>
          <p:nvPr/>
        </p:nvSpPr>
        <p:spPr>
          <a:xfrm>
            <a:off x="767307" y="9511469"/>
            <a:ext cx="16750924" cy="19050"/>
          </a:xfrm>
          <a:prstGeom prst="line">
            <a:avLst/>
          </a:prstGeom>
          <a:ln w="38100" cap="flat">
            <a:solidFill>
              <a:srgbClr val="1C3307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9" name="AutoShape 19"/>
          <p:cNvSpPr/>
          <p:nvPr/>
        </p:nvSpPr>
        <p:spPr>
          <a:xfrm>
            <a:off x="17499181" y="818946"/>
            <a:ext cx="0" cy="8731156"/>
          </a:xfrm>
          <a:prstGeom prst="line">
            <a:avLst/>
          </a:prstGeom>
          <a:ln w="38100" cap="flat">
            <a:solidFill>
              <a:srgbClr val="1C3307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0" name="AutoShape 20"/>
          <p:cNvSpPr/>
          <p:nvPr/>
        </p:nvSpPr>
        <p:spPr>
          <a:xfrm>
            <a:off x="748257" y="807917"/>
            <a:ext cx="0" cy="8731156"/>
          </a:xfrm>
          <a:prstGeom prst="line">
            <a:avLst/>
          </a:prstGeom>
          <a:ln w="38100" cap="flat">
            <a:solidFill>
              <a:srgbClr val="1C3307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1" name="Freeform 21"/>
          <p:cNvSpPr/>
          <p:nvPr/>
        </p:nvSpPr>
        <p:spPr>
          <a:xfrm rot="-10800000">
            <a:off x="-4643370" y="-2273784"/>
            <a:ext cx="9907260" cy="9015607"/>
          </a:xfrm>
          <a:custGeom>
            <a:avLst/>
            <a:gdLst/>
            <a:ahLst/>
            <a:cxnLst/>
            <a:rect l="l" t="t" r="r" b="b"/>
            <a:pathLst>
              <a:path w="9907260" h="9015607">
                <a:moveTo>
                  <a:pt x="0" y="0"/>
                </a:moveTo>
                <a:lnTo>
                  <a:pt x="9907260" y="0"/>
                </a:lnTo>
                <a:lnTo>
                  <a:pt x="9907260" y="9015607"/>
                </a:lnTo>
                <a:lnTo>
                  <a:pt x="0" y="901560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22" name="Freeform 22"/>
          <p:cNvSpPr/>
          <p:nvPr/>
        </p:nvSpPr>
        <p:spPr>
          <a:xfrm rot="3021748">
            <a:off x="15840839" y="6767112"/>
            <a:ext cx="3354783" cy="5283123"/>
          </a:xfrm>
          <a:custGeom>
            <a:avLst/>
            <a:gdLst/>
            <a:ahLst/>
            <a:cxnLst/>
            <a:rect l="l" t="t" r="r" b="b"/>
            <a:pathLst>
              <a:path w="3354783" h="5283123">
                <a:moveTo>
                  <a:pt x="0" y="0"/>
                </a:moveTo>
                <a:lnTo>
                  <a:pt x="3354784" y="0"/>
                </a:lnTo>
                <a:lnTo>
                  <a:pt x="3354784" y="5283124"/>
                </a:lnTo>
                <a:lnTo>
                  <a:pt x="0" y="528312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23" name="Freeform 23"/>
          <p:cNvSpPr/>
          <p:nvPr/>
        </p:nvSpPr>
        <p:spPr>
          <a:xfrm>
            <a:off x="15529108" y="7759584"/>
            <a:ext cx="2115381" cy="1850958"/>
          </a:xfrm>
          <a:custGeom>
            <a:avLst/>
            <a:gdLst/>
            <a:ahLst/>
            <a:cxnLst/>
            <a:rect l="l" t="t" r="r" b="b"/>
            <a:pathLst>
              <a:path w="2115381" h="1850958">
                <a:moveTo>
                  <a:pt x="0" y="0"/>
                </a:moveTo>
                <a:lnTo>
                  <a:pt x="2115380" y="0"/>
                </a:lnTo>
                <a:lnTo>
                  <a:pt x="2115380" y="1850958"/>
                </a:lnTo>
                <a:lnTo>
                  <a:pt x="0" y="185095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24" name="Freeform 24"/>
          <p:cNvSpPr/>
          <p:nvPr/>
        </p:nvSpPr>
        <p:spPr>
          <a:xfrm>
            <a:off x="17106152" y="3426237"/>
            <a:ext cx="1607655" cy="1471004"/>
          </a:xfrm>
          <a:custGeom>
            <a:avLst/>
            <a:gdLst/>
            <a:ahLst/>
            <a:cxnLst/>
            <a:rect l="l" t="t" r="r" b="b"/>
            <a:pathLst>
              <a:path w="1607655" h="1471004">
                <a:moveTo>
                  <a:pt x="0" y="0"/>
                </a:moveTo>
                <a:lnTo>
                  <a:pt x="1607655" y="0"/>
                </a:lnTo>
                <a:lnTo>
                  <a:pt x="1607655" y="1471004"/>
                </a:lnTo>
                <a:lnTo>
                  <a:pt x="0" y="147100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25" name="Freeform 25"/>
          <p:cNvSpPr/>
          <p:nvPr/>
        </p:nvSpPr>
        <p:spPr>
          <a:xfrm rot="-6706366">
            <a:off x="11572374" y="8382738"/>
            <a:ext cx="1938639" cy="2455609"/>
          </a:xfrm>
          <a:custGeom>
            <a:avLst/>
            <a:gdLst/>
            <a:ahLst/>
            <a:cxnLst/>
            <a:rect l="l" t="t" r="r" b="b"/>
            <a:pathLst>
              <a:path w="1938639" h="2455609">
                <a:moveTo>
                  <a:pt x="0" y="0"/>
                </a:moveTo>
                <a:lnTo>
                  <a:pt x="1938639" y="0"/>
                </a:lnTo>
                <a:lnTo>
                  <a:pt x="1938639" y="2455609"/>
                </a:lnTo>
                <a:lnTo>
                  <a:pt x="0" y="245560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26" name="TextBox 26"/>
          <p:cNvSpPr txBox="1"/>
          <p:nvPr/>
        </p:nvSpPr>
        <p:spPr>
          <a:xfrm>
            <a:off x="1137467" y="1104679"/>
            <a:ext cx="16177472" cy="9865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097"/>
              </a:lnSpc>
              <a:spcBef>
                <a:spcPct val="0"/>
              </a:spcBef>
            </a:pPr>
            <a:r>
              <a:rPr lang="en-US" sz="5783">
                <a:solidFill>
                  <a:srgbClr val="3E5532"/>
                </a:solidFill>
                <a:latin typeface="Alice Bold"/>
                <a:ea typeface="Alice Bold"/>
                <a:cs typeface="Alice Bold"/>
                <a:sym typeface="Alice Bold"/>
              </a:rPr>
              <a:t>Que dados vamos recolher?</a:t>
            </a:r>
          </a:p>
        </p:txBody>
      </p:sp>
      <p:sp>
        <p:nvSpPr>
          <p:cNvPr id="27" name="Freeform 27"/>
          <p:cNvSpPr/>
          <p:nvPr/>
        </p:nvSpPr>
        <p:spPr>
          <a:xfrm rot="-4304952">
            <a:off x="6017929" y="8215065"/>
            <a:ext cx="2711727" cy="2790954"/>
          </a:xfrm>
          <a:custGeom>
            <a:avLst/>
            <a:gdLst/>
            <a:ahLst/>
            <a:cxnLst/>
            <a:rect l="l" t="t" r="r" b="b"/>
            <a:pathLst>
              <a:path w="2711727" h="2790954">
                <a:moveTo>
                  <a:pt x="0" y="0"/>
                </a:moveTo>
                <a:lnTo>
                  <a:pt x="2711727" y="0"/>
                </a:lnTo>
                <a:lnTo>
                  <a:pt x="2711727" y="2790954"/>
                </a:lnTo>
                <a:lnTo>
                  <a:pt x="0" y="279095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b="-2727"/>
            </a:stretch>
          </a:blipFill>
        </p:spPr>
      </p:sp>
      <p:sp>
        <p:nvSpPr>
          <p:cNvPr id="28" name="TextBox 28"/>
          <p:cNvSpPr txBox="1"/>
          <p:nvPr/>
        </p:nvSpPr>
        <p:spPr>
          <a:xfrm>
            <a:off x="1795426" y="9023154"/>
            <a:ext cx="4299982" cy="5073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60"/>
              </a:lnSpc>
            </a:pPr>
            <a:r>
              <a:rPr lang="en-US" sz="2900">
                <a:solidFill>
                  <a:srgbClr val="3E5532"/>
                </a:solidFill>
                <a:latin typeface="Alice"/>
                <a:ea typeface="Alice"/>
                <a:cs typeface="Alice"/>
                <a:sym typeface="Alice"/>
              </a:rPr>
              <a:t>Matilde Neves nº63581</a:t>
            </a:r>
          </a:p>
        </p:txBody>
      </p:sp>
      <p:sp>
        <p:nvSpPr>
          <p:cNvPr id="29" name="Freeform 29"/>
          <p:cNvSpPr/>
          <p:nvPr/>
        </p:nvSpPr>
        <p:spPr>
          <a:xfrm rot="4535629">
            <a:off x="-792943" y="7351654"/>
            <a:ext cx="3168257" cy="3813291"/>
          </a:xfrm>
          <a:custGeom>
            <a:avLst/>
            <a:gdLst/>
            <a:ahLst/>
            <a:cxnLst/>
            <a:rect l="l" t="t" r="r" b="b"/>
            <a:pathLst>
              <a:path w="3168257" h="3813291">
                <a:moveTo>
                  <a:pt x="0" y="0"/>
                </a:moveTo>
                <a:lnTo>
                  <a:pt x="3168257" y="0"/>
                </a:lnTo>
                <a:lnTo>
                  <a:pt x="3168257" y="3813292"/>
                </a:lnTo>
                <a:lnTo>
                  <a:pt x="0" y="3813292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30" name="Freeform 30"/>
          <p:cNvSpPr/>
          <p:nvPr/>
        </p:nvSpPr>
        <p:spPr>
          <a:xfrm rot="3664385">
            <a:off x="16099796" y="148104"/>
            <a:ext cx="2319008" cy="1761192"/>
          </a:xfrm>
          <a:custGeom>
            <a:avLst/>
            <a:gdLst/>
            <a:ahLst/>
            <a:cxnLst/>
            <a:rect l="l" t="t" r="r" b="b"/>
            <a:pathLst>
              <a:path w="2319008" h="1761192">
                <a:moveTo>
                  <a:pt x="0" y="0"/>
                </a:moveTo>
                <a:lnTo>
                  <a:pt x="2319008" y="0"/>
                </a:lnTo>
                <a:lnTo>
                  <a:pt x="2319008" y="1761192"/>
                </a:lnTo>
                <a:lnTo>
                  <a:pt x="0" y="1761192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  <p:sp>
        <p:nvSpPr>
          <p:cNvPr id="31" name="Freeform 31"/>
          <p:cNvSpPr/>
          <p:nvPr/>
        </p:nvSpPr>
        <p:spPr>
          <a:xfrm rot="-2858403">
            <a:off x="10398286" y="-1004874"/>
            <a:ext cx="2443241" cy="3125413"/>
          </a:xfrm>
          <a:custGeom>
            <a:avLst/>
            <a:gdLst/>
            <a:ahLst/>
            <a:cxnLst/>
            <a:rect l="l" t="t" r="r" b="b"/>
            <a:pathLst>
              <a:path w="2443241" h="3125413">
                <a:moveTo>
                  <a:pt x="0" y="0"/>
                </a:moveTo>
                <a:lnTo>
                  <a:pt x="2443241" y="0"/>
                </a:lnTo>
                <a:lnTo>
                  <a:pt x="2443241" y="3125414"/>
                </a:lnTo>
                <a:lnTo>
                  <a:pt x="0" y="3125414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</p:sp>
      <p:sp>
        <p:nvSpPr>
          <p:cNvPr id="32" name="Freeform 32"/>
          <p:cNvSpPr/>
          <p:nvPr/>
        </p:nvSpPr>
        <p:spPr>
          <a:xfrm rot="-9172209">
            <a:off x="-500285" y="4133626"/>
            <a:ext cx="2215247" cy="2611681"/>
          </a:xfrm>
          <a:custGeom>
            <a:avLst/>
            <a:gdLst/>
            <a:ahLst/>
            <a:cxnLst/>
            <a:rect l="l" t="t" r="r" b="b"/>
            <a:pathLst>
              <a:path w="2215247" h="2611681">
                <a:moveTo>
                  <a:pt x="0" y="0"/>
                </a:moveTo>
                <a:lnTo>
                  <a:pt x="2215247" y="0"/>
                </a:lnTo>
                <a:lnTo>
                  <a:pt x="2215247" y="2611681"/>
                </a:lnTo>
                <a:lnTo>
                  <a:pt x="0" y="2611681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t="-5479"/>
            </a:stretch>
          </a:blipFill>
        </p:spPr>
      </p:sp>
      <p:sp>
        <p:nvSpPr>
          <p:cNvPr id="33" name="Freeform 33"/>
          <p:cNvSpPr/>
          <p:nvPr/>
        </p:nvSpPr>
        <p:spPr>
          <a:xfrm rot="7262528">
            <a:off x="-81381" y="-848269"/>
            <a:ext cx="2220161" cy="2812204"/>
          </a:xfrm>
          <a:custGeom>
            <a:avLst/>
            <a:gdLst/>
            <a:ahLst/>
            <a:cxnLst/>
            <a:rect l="l" t="t" r="r" b="b"/>
            <a:pathLst>
              <a:path w="2220161" h="2812204">
                <a:moveTo>
                  <a:pt x="0" y="0"/>
                </a:moveTo>
                <a:lnTo>
                  <a:pt x="2220162" y="0"/>
                </a:lnTo>
                <a:lnTo>
                  <a:pt x="2220162" y="2812204"/>
                </a:lnTo>
                <a:lnTo>
                  <a:pt x="0" y="281220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34" name="Freeform 34"/>
          <p:cNvSpPr/>
          <p:nvPr/>
        </p:nvSpPr>
        <p:spPr>
          <a:xfrm rot="-4814165">
            <a:off x="4986543" y="-1134444"/>
            <a:ext cx="2470982" cy="2688059"/>
          </a:xfrm>
          <a:custGeom>
            <a:avLst/>
            <a:gdLst/>
            <a:ahLst/>
            <a:cxnLst/>
            <a:rect l="l" t="t" r="r" b="b"/>
            <a:pathLst>
              <a:path w="2470982" h="2688059">
                <a:moveTo>
                  <a:pt x="0" y="0"/>
                </a:moveTo>
                <a:lnTo>
                  <a:pt x="2470981" y="0"/>
                </a:lnTo>
                <a:lnTo>
                  <a:pt x="2470981" y="2688059"/>
                </a:lnTo>
                <a:lnTo>
                  <a:pt x="0" y="2688059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</p:sp>
      <p:sp>
        <p:nvSpPr>
          <p:cNvPr id="35" name="Freeform 35"/>
          <p:cNvSpPr/>
          <p:nvPr/>
        </p:nvSpPr>
        <p:spPr>
          <a:xfrm>
            <a:off x="8489889" y="2212918"/>
            <a:ext cx="3000183" cy="5861164"/>
          </a:xfrm>
          <a:custGeom>
            <a:avLst/>
            <a:gdLst/>
            <a:ahLst/>
            <a:cxnLst/>
            <a:rect l="l" t="t" r="r" b="b"/>
            <a:pathLst>
              <a:path w="3000183" h="5861164">
                <a:moveTo>
                  <a:pt x="0" y="0"/>
                </a:moveTo>
                <a:lnTo>
                  <a:pt x="3000183" y="0"/>
                </a:lnTo>
                <a:lnTo>
                  <a:pt x="3000183" y="5861164"/>
                </a:lnTo>
                <a:lnTo>
                  <a:pt x="0" y="5861164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/>
            </a:stretch>
          </a:blipFill>
        </p:spPr>
      </p:sp>
      <p:sp>
        <p:nvSpPr>
          <p:cNvPr id="36" name="Freeform 36"/>
          <p:cNvSpPr/>
          <p:nvPr/>
        </p:nvSpPr>
        <p:spPr>
          <a:xfrm>
            <a:off x="11918697" y="2234019"/>
            <a:ext cx="3873109" cy="2913938"/>
          </a:xfrm>
          <a:custGeom>
            <a:avLst/>
            <a:gdLst/>
            <a:ahLst/>
            <a:cxnLst/>
            <a:rect l="l" t="t" r="r" b="b"/>
            <a:pathLst>
              <a:path w="3873109" h="2913938">
                <a:moveTo>
                  <a:pt x="0" y="0"/>
                </a:moveTo>
                <a:lnTo>
                  <a:pt x="3873109" y="0"/>
                </a:lnTo>
                <a:lnTo>
                  <a:pt x="3873109" y="2913938"/>
                </a:lnTo>
                <a:lnTo>
                  <a:pt x="0" y="2913938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/>
            </a:stretch>
          </a:blipFill>
        </p:spPr>
      </p:sp>
      <p:sp>
        <p:nvSpPr>
          <p:cNvPr id="37" name="Freeform 37"/>
          <p:cNvSpPr/>
          <p:nvPr/>
        </p:nvSpPr>
        <p:spPr>
          <a:xfrm>
            <a:off x="11918697" y="5980047"/>
            <a:ext cx="4402037" cy="2019434"/>
          </a:xfrm>
          <a:custGeom>
            <a:avLst/>
            <a:gdLst/>
            <a:ahLst/>
            <a:cxnLst/>
            <a:rect l="l" t="t" r="r" b="b"/>
            <a:pathLst>
              <a:path w="4402037" h="2019434">
                <a:moveTo>
                  <a:pt x="0" y="0"/>
                </a:moveTo>
                <a:lnTo>
                  <a:pt x="4402037" y="0"/>
                </a:lnTo>
                <a:lnTo>
                  <a:pt x="4402037" y="2019434"/>
                </a:lnTo>
                <a:lnTo>
                  <a:pt x="0" y="2019434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/>
            </a:stretch>
          </a:blipFill>
        </p:spPr>
      </p:sp>
      <p:sp>
        <p:nvSpPr>
          <p:cNvPr id="38" name="TextBox 38"/>
          <p:cNvSpPr txBox="1"/>
          <p:nvPr/>
        </p:nvSpPr>
        <p:spPr>
          <a:xfrm>
            <a:off x="2188570" y="2892950"/>
            <a:ext cx="5875768" cy="47961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59"/>
              </a:lnSpc>
              <a:spcBef>
                <a:spcPct val="0"/>
              </a:spcBef>
            </a:pPr>
            <a:r>
              <a:rPr lang="en-US" sz="2899">
                <a:solidFill>
                  <a:srgbClr val="3E5532"/>
                </a:solidFill>
                <a:latin typeface="Alice Bold"/>
                <a:ea typeface="Alice Bold"/>
                <a:cs typeface="Alice Bold"/>
                <a:sym typeface="Alice Bold"/>
              </a:rPr>
              <a:t>Variáveis</a:t>
            </a:r>
          </a:p>
          <a:p>
            <a:pPr algn="l">
              <a:lnSpc>
                <a:spcPts val="3779"/>
              </a:lnSpc>
              <a:spcBef>
                <a:spcPct val="0"/>
              </a:spcBef>
            </a:pPr>
            <a:endParaRPr lang="en-US" sz="2899">
              <a:solidFill>
                <a:srgbClr val="3E5532"/>
              </a:solidFill>
              <a:latin typeface="Alice Bold"/>
              <a:ea typeface="Alice Bold"/>
              <a:cs typeface="Alice Bold"/>
              <a:sym typeface="Alice Bold"/>
            </a:endParaRPr>
          </a:p>
          <a:p>
            <a:pPr marL="582928" lvl="1" indent="-291464" algn="l">
              <a:lnSpc>
                <a:spcPts val="3779"/>
              </a:lnSpc>
              <a:spcBef>
                <a:spcPct val="0"/>
              </a:spcBef>
              <a:buFont typeface="Arial"/>
              <a:buChar char="•"/>
            </a:pPr>
            <a:r>
              <a:rPr lang="en-US" sz="2699">
                <a:solidFill>
                  <a:srgbClr val="3E5532"/>
                </a:solidFill>
                <a:latin typeface="Alice"/>
                <a:ea typeface="Alice"/>
                <a:cs typeface="Alice"/>
                <a:sym typeface="Alice"/>
              </a:rPr>
              <a:t>Binárias: Marcas de predação e presença de chuva.</a:t>
            </a:r>
          </a:p>
          <a:p>
            <a:pPr marL="582928" lvl="1" indent="-291464" algn="l">
              <a:lnSpc>
                <a:spcPts val="3779"/>
              </a:lnSpc>
              <a:spcBef>
                <a:spcPct val="0"/>
              </a:spcBef>
              <a:buFont typeface="Arial"/>
              <a:buChar char="•"/>
            </a:pPr>
            <a:r>
              <a:rPr lang="en-US" sz="2699">
                <a:solidFill>
                  <a:srgbClr val="3E5532"/>
                </a:solidFill>
                <a:latin typeface="Alice"/>
                <a:ea typeface="Alice"/>
                <a:cs typeface="Alice"/>
                <a:sym typeface="Alice"/>
              </a:rPr>
              <a:t>Categóricas: Cor das lagartas e diversidade de habitat.</a:t>
            </a:r>
          </a:p>
          <a:p>
            <a:pPr marL="582928" lvl="1" indent="-291464" algn="l">
              <a:lnSpc>
                <a:spcPts val="3779"/>
              </a:lnSpc>
              <a:spcBef>
                <a:spcPct val="0"/>
              </a:spcBef>
              <a:buFont typeface="Arial"/>
              <a:buChar char="•"/>
            </a:pPr>
            <a:r>
              <a:rPr lang="en-US" sz="2699">
                <a:solidFill>
                  <a:srgbClr val="3E5532"/>
                </a:solidFill>
                <a:latin typeface="Alice"/>
                <a:ea typeface="Alice"/>
                <a:cs typeface="Alice"/>
                <a:sym typeface="Alice"/>
              </a:rPr>
              <a:t>Contínua: Distância das lagartas ao solo.</a:t>
            </a:r>
          </a:p>
          <a:p>
            <a:pPr marL="582928" lvl="1" indent="-291464" algn="l">
              <a:lnSpc>
                <a:spcPts val="3779"/>
              </a:lnSpc>
              <a:spcBef>
                <a:spcPct val="0"/>
              </a:spcBef>
              <a:buFont typeface="Arial"/>
              <a:buChar char="•"/>
            </a:pPr>
            <a:r>
              <a:rPr lang="en-US" sz="2699">
                <a:solidFill>
                  <a:srgbClr val="3E5532"/>
                </a:solidFill>
                <a:latin typeface="Alice"/>
                <a:ea typeface="Alice"/>
                <a:cs typeface="Alice"/>
                <a:sym typeface="Alice"/>
              </a:rPr>
              <a:t>De resposta: Variação da taxa de predação.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11918697" y="5252732"/>
            <a:ext cx="3873109" cy="323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3E5532"/>
                </a:solidFill>
                <a:latin typeface="Open Sans"/>
                <a:ea typeface="Open Sans"/>
                <a:cs typeface="Open Sans"/>
                <a:sym typeface="Open Sans"/>
              </a:rPr>
              <a:t>Figura 3: FCULresta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11840437" y="8104256"/>
            <a:ext cx="4402037" cy="323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 dirty="0" err="1">
                <a:solidFill>
                  <a:srgbClr val="3E5532"/>
                </a:solidFill>
                <a:latin typeface="Open Sans"/>
                <a:ea typeface="Open Sans"/>
                <a:cs typeface="Open Sans"/>
                <a:sym typeface="Open Sans"/>
              </a:rPr>
              <a:t>Figura</a:t>
            </a:r>
            <a:r>
              <a:rPr lang="en-US" sz="1899" dirty="0">
                <a:solidFill>
                  <a:srgbClr val="3E5532"/>
                </a:solidFill>
                <a:latin typeface="Open Sans"/>
                <a:ea typeface="Open Sans"/>
                <a:cs typeface="Open Sans"/>
                <a:sym typeface="Open Sans"/>
              </a:rPr>
              <a:t> 4: Jardim da Torre do Tombo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8489889" y="8142039"/>
            <a:ext cx="3000183" cy="6688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 dirty="0" err="1">
                <a:solidFill>
                  <a:srgbClr val="3E5532"/>
                </a:solidFill>
                <a:latin typeface="Open Sans"/>
                <a:ea typeface="Open Sans"/>
                <a:cs typeface="Open Sans"/>
                <a:sym typeface="Open Sans"/>
                <a:hlinkClick r:id="rId17" tooltip="https://www.jstor.org/stable/2684851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Figura</a:t>
            </a:r>
            <a:r>
              <a:rPr lang="en-US" sz="1899" dirty="0">
                <a:solidFill>
                  <a:srgbClr val="3E5532"/>
                </a:solidFill>
                <a:latin typeface="Open Sans"/>
                <a:ea typeface="Open Sans"/>
                <a:cs typeface="Open Sans"/>
                <a:sym typeface="Open Sans"/>
                <a:hlinkClick r:id="rId17" tooltip="https://www.jstor.org/stable/2684851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2: Marcas de </a:t>
            </a:r>
            <a:r>
              <a:rPr lang="en-US" sz="1899" dirty="0" err="1">
                <a:solidFill>
                  <a:srgbClr val="3E5532"/>
                </a:solidFill>
                <a:latin typeface="Open Sans"/>
                <a:ea typeface="Open Sans"/>
                <a:cs typeface="Open Sans"/>
                <a:sym typeface="Open Sans"/>
                <a:hlinkClick r:id="rId17" tooltip="https://www.jstor.org/stable/2684851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predação</a:t>
            </a:r>
            <a:endParaRPr lang="en-US" sz="1899" dirty="0">
              <a:solidFill>
                <a:srgbClr val="3E5532"/>
              </a:solidFill>
              <a:latin typeface="Open Sans"/>
              <a:ea typeface="Open Sans"/>
              <a:cs typeface="Open Sans"/>
              <a:sym typeface="Open Sans"/>
              <a:hlinkClick r:id="rId17" tooltip="https://www.jstor.org/stable/26848513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4EFB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7480083" y="0"/>
            <a:ext cx="807917" cy="10287000"/>
            <a:chOff x="0" y="0"/>
            <a:chExt cx="212785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2785" cy="2709333"/>
            </a:xfrm>
            <a:custGeom>
              <a:avLst/>
              <a:gdLst/>
              <a:ahLst/>
              <a:cxnLst/>
              <a:rect l="l" t="t" r="r" b="b"/>
              <a:pathLst>
                <a:path w="212785" h="2709333">
                  <a:moveTo>
                    <a:pt x="0" y="0"/>
                  </a:moveTo>
                  <a:lnTo>
                    <a:pt x="212785" y="0"/>
                  </a:lnTo>
                  <a:lnTo>
                    <a:pt x="212785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335A28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12785" cy="2747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 rot="5400000">
            <a:off x="8822244" y="-8014327"/>
            <a:ext cx="807917" cy="16836572"/>
            <a:chOff x="0" y="0"/>
            <a:chExt cx="212785" cy="443432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12785" cy="4434324"/>
            </a:xfrm>
            <a:custGeom>
              <a:avLst/>
              <a:gdLst/>
              <a:ahLst/>
              <a:cxnLst/>
              <a:rect l="l" t="t" r="r" b="b"/>
              <a:pathLst>
                <a:path w="212785" h="4434324">
                  <a:moveTo>
                    <a:pt x="0" y="0"/>
                  </a:moveTo>
                  <a:lnTo>
                    <a:pt x="212785" y="0"/>
                  </a:lnTo>
                  <a:lnTo>
                    <a:pt x="212785" y="4434324"/>
                  </a:lnTo>
                  <a:lnTo>
                    <a:pt x="0" y="4434324"/>
                  </a:lnTo>
                  <a:close/>
                </a:path>
              </a:pathLst>
            </a:custGeom>
            <a:solidFill>
              <a:srgbClr val="335A28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212785" cy="447242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 rot="5400000">
            <a:off x="8822244" y="1464756"/>
            <a:ext cx="807917" cy="16836572"/>
            <a:chOff x="0" y="0"/>
            <a:chExt cx="212785" cy="4434323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12785" cy="4434324"/>
            </a:xfrm>
            <a:custGeom>
              <a:avLst/>
              <a:gdLst/>
              <a:ahLst/>
              <a:cxnLst/>
              <a:rect l="l" t="t" r="r" b="b"/>
              <a:pathLst>
                <a:path w="212785" h="4434324">
                  <a:moveTo>
                    <a:pt x="0" y="0"/>
                  </a:moveTo>
                  <a:lnTo>
                    <a:pt x="212785" y="0"/>
                  </a:lnTo>
                  <a:lnTo>
                    <a:pt x="212785" y="4434324"/>
                  </a:lnTo>
                  <a:lnTo>
                    <a:pt x="0" y="4434324"/>
                  </a:lnTo>
                  <a:close/>
                </a:path>
              </a:pathLst>
            </a:custGeom>
            <a:solidFill>
              <a:srgbClr val="335A28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212785" cy="447242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767307" y="851332"/>
            <a:ext cx="16712776" cy="8660137"/>
            <a:chOff x="0" y="0"/>
            <a:chExt cx="4401719" cy="2280859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4401719" cy="2280859"/>
            </a:xfrm>
            <a:custGeom>
              <a:avLst/>
              <a:gdLst/>
              <a:ahLst/>
              <a:cxnLst/>
              <a:rect l="l" t="t" r="r" b="b"/>
              <a:pathLst>
                <a:path w="4401719" h="2280859">
                  <a:moveTo>
                    <a:pt x="0" y="0"/>
                  </a:moveTo>
                  <a:lnTo>
                    <a:pt x="4401719" y="0"/>
                  </a:lnTo>
                  <a:lnTo>
                    <a:pt x="4401719" y="2280859"/>
                  </a:lnTo>
                  <a:lnTo>
                    <a:pt x="0" y="2280859"/>
                  </a:lnTo>
                  <a:close/>
                </a:path>
              </a:pathLst>
            </a:custGeom>
            <a:solidFill>
              <a:srgbClr val="D4EFB9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4401719" cy="231895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4" name="Freeform 14"/>
          <p:cNvSpPr/>
          <p:nvPr/>
        </p:nvSpPr>
        <p:spPr>
          <a:xfrm>
            <a:off x="-1894089" y="4697285"/>
            <a:ext cx="5954087" cy="4392544"/>
          </a:xfrm>
          <a:custGeom>
            <a:avLst/>
            <a:gdLst/>
            <a:ahLst/>
            <a:cxnLst/>
            <a:rect l="l" t="t" r="r" b="b"/>
            <a:pathLst>
              <a:path w="5954087" h="4392544">
                <a:moveTo>
                  <a:pt x="0" y="0"/>
                </a:moveTo>
                <a:lnTo>
                  <a:pt x="5954086" y="0"/>
                </a:lnTo>
                <a:lnTo>
                  <a:pt x="5954086" y="4392544"/>
                </a:lnTo>
                <a:lnTo>
                  <a:pt x="0" y="439254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06131" r="-52070"/>
            </a:stretch>
          </a:blipFill>
        </p:spPr>
      </p:sp>
      <p:grpSp>
        <p:nvGrpSpPr>
          <p:cNvPr id="15" name="Group 15"/>
          <p:cNvGrpSpPr/>
          <p:nvPr/>
        </p:nvGrpSpPr>
        <p:grpSpPr>
          <a:xfrm>
            <a:off x="0" y="0"/>
            <a:ext cx="807917" cy="10287000"/>
            <a:chOff x="0" y="0"/>
            <a:chExt cx="212785" cy="2709333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212785" cy="2709333"/>
            </a:xfrm>
            <a:custGeom>
              <a:avLst/>
              <a:gdLst/>
              <a:ahLst/>
              <a:cxnLst/>
              <a:rect l="l" t="t" r="r" b="b"/>
              <a:pathLst>
                <a:path w="212785" h="2709333">
                  <a:moveTo>
                    <a:pt x="0" y="0"/>
                  </a:moveTo>
                  <a:lnTo>
                    <a:pt x="212785" y="0"/>
                  </a:lnTo>
                  <a:lnTo>
                    <a:pt x="212785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335A28"/>
            </a:solidFill>
          </p:spPr>
        </p:sp>
        <p:sp>
          <p:nvSpPr>
            <p:cNvPr id="17" name="TextBox 17"/>
            <p:cNvSpPr txBox="1"/>
            <p:nvPr/>
          </p:nvSpPr>
          <p:spPr>
            <a:xfrm>
              <a:off x="0" y="-38100"/>
              <a:ext cx="212785" cy="2747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8" name="AutoShape 18"/>
          <p:cNvSpPr/>
          <p:nvPr/>
        </p:nvSpPr>
        <p:spPr>
          <a:xfrm>
            <a:off x="791186" y="818946"/>
            <a:ext cx="16727045" cy="0"/>
          </a:xfrm>
          <a:prstGeom prst="line">
            <a:avLst/>
          </a:prstGeom>
          <a:ln w="38100" cap="flat">
            <a:solidFill>
              <a:srgbClr val="1C3307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9" name="AutoShape 19"/>
          <p:cNvSpPr/>
          <p:nvPr/>
        </p:nvSpPr>
        <p:spPr>
          <a:xfrm flipV="1">
            <a:off x="673743" y="9530519"/>
            <a:ext cx="16844488" cy="8553"/>
          </a:xfrm>
          <a:prstGeom prst="line">
            <a:avLst/>
          </a:prstGeom>
          <a:ln w="38100" cap="flat">
            <a:solidFill>
              <a:srgbClr val="1C3307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0" name="AutoShape 20"/>
          <p:cNvSpPr/>
          <p:nvPr/>
        </p:nvSpPr>
        <p:spPr>
          <a:xfrm>
            <a:off x="17499181" y="818946"/>
            <a:ext cx="0" cy="8731156"/>
          </a:xfrm>
          <a:prstGeom prst="line">
            <a:avLst/>
          </a:prstGeom>
          <a:ln w="38100" cap="flat">
            <a:solidFill>
              <a:srgbClr val="1C3307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1" name="AutoShape 21"/>
          <p:cNvSpPr/>
          <p:nvPr/>
        </p:nvSpPr>
        <p:spPr>
          <a:xfrm>
            <a:off x="794239" y="807917"/>
            <a:ext cx="0" cy="8731156"/>
          </a:xfrm>
          <a:prstGeom prst="line">
            <a:avLst/>
          </a:prstGeom>
          <a:ln w="38100" cap="flat">
            <a:solidFill>
              <a:srgbClr val="1C3307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2" name="Freeform 22"/>
          <p:cNvSpPr/>
          <p:nvPr/>
        </p:nvSpPr>
        <p:spPr>
          <a:xfrm rot="3021748">
            <a:off x="15840839" y="6767112"/>
            <a:ext cx="3354783" cy="5283123"/>
          </a:xfrm>
          <a:custGeom>
            <a:avLst/>
            <a:gdLst/>
            <a:ahLst/>
            <a:cxnLst/>
            <a:rect l="l" t="t" r="r" b="b"/>
            <a:pathLst>
              <a:path w="3354783" h="5283123">
                <a:moveTo>
                  <a:pt x="0" y="0"/>
                </a:moveTo>
                <a:lnTo>
                  <a:pt x="3354784" y="0"/>
                </a:lnTo>
                <a:lnTo>
                  <a:pt x="3354784" y="5283124"/>
                </a:lnTo>
                <a:lnTo>
                  <a:pt x="0" y="528312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23" name="Freeform 23"/>
          <p:cNvSpPr/>
          <p:nvPr/>
        </p:nvSpPr>
        <p:spPr>
          <a:xfrm>
            <a:off x="15529108" y="7759584"/>
            <a:ext cx="2115381" cy="1850958"/>
          </a:xfrm>
          <a:custGeom>
            <a:avLst/>
            <a:gdLst/>
            <a:ahLst/>
            <a:cxnLst/>
            <a:rect l="l" t="t" r="r" b="b"/>
            <a:pathLst>
              <a:path w="2115381" h="1850958">
                <a:moveTo>
                  <a:pt x="0" y="0"/>
                </a:moveTo>
                <a:lnTo>
                  <a:pt x="2115380" y="0"/>
                </a:lnTo>
                <a:lnTo>
                  <a:pt x="2115380" y="1850958"/>
                </a:lnTo>
                <a:lnTo>
                  <a:pt x="0" y="185095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24" name="Freeform 24"/>
          <p:cNvSpPr/>
          <p:nvPr/>
        </p:nvSpPr>
        <p:spPr>
          <a:xfrm>
            <a:off x="17106152" y="3426237"/>
            <a:ext cx="1607655" cy="1471004"/>
          </a:xfrm>
          <a:custGeom>
            <a:avLst/>
            <a:gdLst/>
            <a:ahLst/>
            <a:cxnLst/>
            <a:rect l="l" t="t" r="r" b="b"/>
            <a:pathLst>
              <a:path w="1607655" h="1471004">
                <a:moveTo>
                  <a:pt x="0" y="0"/>
                </a:moveTo>
                <a:lnTo>
                  <a:pt x="1607655" y="0"/>
                </a:lnTo>
                <a:lnTo>
                  <a:pt x="1607655" y="1471004"/>
                </a:lnTo>
                <a:lnTo>
                  <a:pt x="0" y="147100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25" name="Freeform 25"/>
          <p:cNvSpPr/>
          <p:nvPr/>
        </p:nvSpPr>
        <p:spPr>
          <a:xfrm rot="-6706366">
            <a:off x="11572374" y="8382738"/>
            <a:ext cx="1938639" cy="2455609"/>
          </a:xfrm>
          <a:custGeom>
            <a:avLst/>
            <a:gdLst/>
            <a:ahLst/>
            <a:cxnLst/>
            <a:rect l="l" t="t" r="r" b="b"/>
            <a:pathLst>
              <a:path w="1938639" h="2455609">
                <a:moveTo>
                  <a:pt x="0" y="0"/>
                </a:moveTo>
                <a:lnTo>
                  <a:pt x="1938639" y="0"/>
                </a:lnTo>
                <a:lnTo>
                  <a:pt x="1938639" y="2455609"/>
                </a:lnTo>
                <a:lnTo>
                  <a:pt x="0" y="245560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26" name="Freeform 26"/>
          <p:cNvSpPr/>
          <p:nvPr/>
        </p:nvSpPr>
        <p:spPr>
          <a:xfrm rot="-10800000">
            <a:off x="-4643370" y="-2273784"/>
            <a:ext cx="9907260" cy="9015607"/>
          </a:xfrm>
          <a:custGeom>
            <a:avLst/>
            <a:gdLst/>
            <a:ahLst/>
            <a:cxnLst/>
            <a:rect l="l" t="t" r="r" b="b"/>
            <a:pathLst>
              <a:path w="9907260" h="9015607">
                <a:moveTo>
                  <a:pt x="0" y="0"/>
                </a:moveTo>
                <a:lnTo>
                  <a:pt x="9907260" y="0"/>
                </a:lnTo>
                <a:lnTo>
                  <a:pt x="9907260" y="9015607"/>
                </a:lnTo>
                <a:lnTo>
                  <a:pt x="0" y="901560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27" name="TextBox 27"/>
          <p:cNvSpPr txBox="1"/>
          <p:nvPr/>
        </p:nvSpPr>
        <p:spPr>
          <a:xfrm>
            <a:off x="1137467" y="914400"/>
            <a:ext cx="16177472" cy="9865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097"/>
              </a:lnSpc>
              <a:spcBef>
                <a:spcPct val="0"/>
              </a:spcBef>
            </a:pPr>
            <a:r>
              <a:rPr lang="en-US" sz="5783">
                <a:solidFill>
                  <a:srgbClr val="3E5532"/>
                </a:solidFill>
                <a:latin typeface="Alice Bold"/>
                <a:ea typeface="Alice Bold"/>
                <a:cs typeface="Alice Bold"/>
                <a:sym typeface="Alice Bold"/>
              </a:rPr>
              <a:t>Como serão recolhidos os dados?</a:t>
            </a:r>
          </a:p>
        </p:txBody>
      </p:sp>
      <p:sp>
        <p:nvSpPr>
          <p:cNvPr id="28" name="Freeform 28"/>
          <p:cNvSpPr/>
          <p:nvPr/>
        </p:nvSpPr>
        <p:spPr>
          <a:xfrm rot="-4304952">
            <a:off x="6017929" y="8215065"/>
            <a:ext cx="2711727" cy="2790954"/>
          </a:xfrm>
          <a:custGeom>
            <a:avLst/>
            <a:gdLst/>
            <a:ahLst/>
            <a:cxnLst/>
            <a:rect l="l" t="t" r="r" b="b"/>
            <a:pathLst>
              <a:path w="2711727" h="2790954">
                <a:moveTo>
                  <a:pt x="0" y="0"/>
                </a:moveTo>
                <a:lnTo>
                  <a:pt x="2711727" y="0"/>
                </a:lnTo>
                <a:lnTo>
                  <a:pt x="2711727" y="2790954"/>
                </a:lnTo>
                <a:lnTo>
                  <a:pt x="0" y="2790954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b="-2727"/>
            </a:stretch>
          </a:blipFill>
        </p:spPr>
      </p:sp>
      <p:sp>
        <p:nvSpPr>
          <p:cNvPr id="29" name="Freeform 29"/>
          <p:cNvSpPr/>
          <p:nvPr/>
        </p:nvSpPr>
        <p:spPr>
          <a:xfrm rot="3664385">
            <a:off x="16099796" y="148104"/>
            <a:ext cx="2319008" cy="1761192"/>
          </a:xfrm>
          <a:custGeom>
            <a:avLst/>
            <a:gdLst/>
            <a:ahLst/>
            <a:cxnLst/>
            <a:rect l="l" t="t" r="r" b="b"/>
            <a:pathLst>
              <a:path w="2319008" h="1761192">
                <a:moveTo>
                  <a:pt x="0" y="0"/>
                </a:moveTo>
                <a:lnTo>
                  <a:pt x="2319008" y="0"/>
                </a:lnTo>
                <a:lnTo>
                  <a:pt x="2319008" y="1761192"/>
                </a:lnTo>
                <a:lnTo>
                  <a:pt x="0" y="1761192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  <p:sp>
        <p:nvSpPr>
          <p:cNvPr id="30" name="Freeform 30"/>
          <p:cNvSpPr/>
          <p:nvPr/>
        </p:nvSpPr>
        <p:spPr>
          <a:xfrm rot="-2858403">
            <a:off x="10398286" y="-1004874"/>
            <a:ext cx="2443241" cy="3125413"/>
          </a:xfrm>
          <a:custGeom>
            <a:avLst/>
            <a:gdLst/>
            <a:ahLst/>
            <a:cxnLst/>
            <a:rect l="l" t="t" r="r" b="b"/>
            <a:pathLst>
              <a:path w="2443241" h="3125413">
                <a:moveTo>
                  <a:pt x="0" y="0"/>
                </a:moveTo>
                <a:lnTo>
                  <a:pt x="2443241" y="0"/>
                </a:lnTo>
                <a:lnTo>
                  <a:pt x="2443241" y="3125414"/>
                </a:lnTo>
                <a:lnTo>
                  <a:pt x="0" y="3125414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</p:sp>
      <p:sp>
        <p:nvSpPr>
          <p:cNvPr id="31" name="Freeform 31"/>
          <p:cNvSpPr/>
          <p:nvPr/>
        </p:nvSpPr>
        <p:spPr>
          <a:xfrm rot="-4814165">
            <a:off x="4986543" y="-1134444"/>
            <a:ext cx="2470982" cy="2688059"/>
          </a:xfrm>
          <a:custGeom>
            <a:avLst/>
            <a:gdLst/>
            <a:ahLst/>
            <a:cxnLst/>
            <a:rect l="l" t="t" r="r" b="b"/>
            <a:pathLst>
              <a:path w="2470982" h="2688059">
                <a:moveTo>
                  <a:pt x="0" y="0"/>
                </a:moveTo>
                <a:lnTo>
                  <a:pt x="2470981" y="0"/>
                </a:lnTo>
                <a:lnTo>
                  <a:pt x="2470981" y="2688059"/>
                </a:lnTo>
                <a:lnTo>
                  <a:pt x="0" y="2688059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</p:sp>
      <p:sp>
        <p:nvSpPr>
          <p:cNvPr id="32" name="Freeform 32"/>
          <p:cNvSpPr/>
          <p:nvPr/>
        </p:nvSpPr>
        <p:spPr>
          <a:xfrm>
            <a:off x="1250963" y="2743800"/>
            <a:ext cx="2168019" cy="227642"/>
          </a:xfrm>
          <a:custGeom>
            <a:avLst/>
            <a:gdLst/>
            <a:ahLst/>
            <a:cxnLst/>
            <a:rect l="l" t="t" r="r" b="b"/>
            <a:pathLst>
              <a:path w="2168019" h="227642">
                <a:moveTo>
                  <a:pt x="0" y="0"/>
                </a:moveTo>
                <a:lnTo>
                  <a:pt x="2168020" y="0"/>
                </a:lnTo>
                <a:lnTo>
                  <a:pt x="2168020" y="227642"/>
                </a:lnTo>
                <a:lnTo>
                  <a:pt x="0" y="227642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</p:spPr>
      </p:sp>
      <p:sp>
        <p:nvSpPr>
          <p:cNvPr id="33" name="Freeform 33"/>
          <p:cNvSpPr/>
          <p:nvPr/>
        </p:nvSpPr>
        <p:spPr>
          <a:xfrm>
            <a:off x="1333820" y="758320"/>
            <a:ext cx="2125091" cy="2099301"/>
          </a:xfrm>
          <a:custGeom>
            <a:avLst/>
            <a:gdLst/>
            <a:ahLst/>
            <a:cxnLst/>
            <a:rect l="l" t="t" r="r" b="b"/>
            <a:pathLst>
              <a:path w="2125091" h="2099301">
                <a:moveTo>
                  <a:pt x="0" y="0"/>
                </a:moveTo>
                <a:lnTo>
                  <a:pt x="2125091" y="0"/>
                </a:lnTo>
                <a:lnTo>
                  <a:pt x="2125091" y="2099301"/>
                </a:lnTo>
                <a:lnTo>
                  <a:pt x="0" y="2099301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/>
            </a:stretch>
          </a:blipFill>
        </p:spPr>
      </p:sp>
      <p:sp>
        <p:nvSpPr>
          <p:cNvPr id="34" name="Freeform 34"/>
          <p:cNvSpPr/>
          <p:nvPr/>
        </p:nvSpPr>
        <p:spPr>
          <a:xfrm rot="5400000">
            <a:off x="2060846" y="2342075"/>
            <a:ext cx="671037" cy="187890"/>
          </a:xfrm>
          <a:custGeom>
            <a:avLst/>
            <a:gdLst/>
            <a:ahLst/>
            <a:cxnLst/>
            <a:rect l="l" t="t" r="r" b="b"/>
            <a:pathLst>
              <a:path w="671037" h="187890">
                <a:moveTo>
                  <a:pt x="0" y="0"/>
                </a:moveTo>
                <a:lnTo>
                  <a:pt x="671038" y="0"/>
                </a:lnTo>
                <a:lnTo>
                  <a:pt x="671038" y="187890"/>
                </a:lnTo>
                <a:lnTo>
                  <a:pt x="0" y="187890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a:blipFill>
        </p:spPr>
      </p:sp>
      <p:sp>
        <p:nvSpPr>
          <p:cNvPr id="35" name="Freeform 35"/>
          <p:cNvSpPr/>
          <p:nvPr/>
        </p:nvSpPr>
        <p:spPr>
          <a:xfrm>
            <a:off x="1250963" y="3855302"/>
            <a:ext cx="2168019" cy="227642"/>
          </a:xfrm>
          <a:custGeom>
            <a:avLst/>
            <a:gdLst/>
            <a:ahLst/>
            <a:cxnLst/>
            <a:rect l="l" t="t" r="r" b="b"/>
            <a:pathLst>
              <a:path w="2168019" h="227642">
                <a:moveTo>
                  <a:pt x="0" y="0"/>
                </a:moveTo>
                <a:lnTo>
                  <a:pt x="2168020" y="0"/>
                </a:lnTo>
                <a:lnTo>
                  <a:pt x="2168020" y="227642"/>
                </a:lnTo>
                <a:lnTo>
                  <a:pt x="0" y="227642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</p:spPr>
      </p:sp>
      <p:sp>
        <p:nvSpPr>
          <p:cNvPr id="36" name="Freeform 36"/>
          <p:cNvSpPr/>
          <p:nvPr/>
        </p:nvSpPr>
        <p:spPr>
          <a:xfrm>
            <a:off x="1211036" y="2879724"/>
            <a:ext cx="2125091" cy="2099301"/>
          </a:xfrm>
          <a:custGeom>
            <a:avLst/>
            <a:gdLst/>
            <a:ahLst/>
            <a:cxnLst/>
            <a:rect l="l" t="t" r="r" b="b"/>
            <a:pathLst>
              <a:path w="2125091" h="2099301">
                <a:moveTo>
                  <a:pt x="0" y="0"/>
                </a:moveTo>
                <a:lnTo>
                  <a:pt x="2125091" y="0"/>
                </a:lnTo>
                <a:lnTo>
                  <a:pt x="2125091" y="2099301"/>
                </a:lnTo>
                <a:lnTo>
                  <a:pt x="0" y="2099301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/>
            </a:stretch>
          </a:blipFill>
        </p:spPr>
      </p:sp>
      <p:sp>
        <p:nvSpPr>
          <p:cNvPr id="37" name="Freeform 37"/>
          <p:cNvSpPr/>
          <p:nvPr/>
        </p:nvSpPr>
        <p:spPr>
          <a:xfrm>
            <a:off x="2645951" y="6592474"/>
            <a:ext cx="998533" cy="514244"/>
          </a:xfrm>
          <a:custGeom>
            <a:avLst/>
            <a:gdLst/>
            <a:ahLst/>
            <a:cxnLst/>
            <a:rect l="l" t="t" r="r" b="b"/>
            <a:pathLst>
              <a:path w="998533" h="514244">
                <a:moveTo>
                  <a:pt x="0" y="0"/>
                </a:moveTo>
                <a:lnTo>
                  <a:pt x="998533" y="0"/>
                </a:lnTo>
                <a:lnTo>
                  <a:pt x="998533" y="514244"/>
                </a:lnTo>
                <a:lnTo>
                  <a:pt x="0" y="514244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a:blipFill>
        </p:spPr>
      </p:sp>
      <p:sp>
        <p:nvSpPr>
          <p:cNvPr id="38" name="Freeform 38"/>
          <p:cNvSpPr/>
          <p:nvPr/>
        </p:nvSpPr>
        <p:spPr>
          <a:xfrm rot="-10381807">
            <a:off x="1343934" y="6614483"/>
            <a:ext cx="1982079" cy="287401"/>
          </a:xfrm>
          <a:custGeom>
            <a:avLst/>
            <a:gdLst/>
            <a:ahLst/>
            <a:cxnLst/>
            <a:rect l="l" t="t" r="r" b="b"/>
            <a:pathLst>
              <a:path w="1982079" h="287401">
                <a:moveTo>
                  <a:pt x="0" y="0"/>
                </a:moveTo>
                <a:lnTo>
                  <a:pt x="1982079" y="0"/>
                </a:lnTo>
                <a:lnTo>
                  <a:pt x="1982079" y="287401"/>
                </a:lnTo>
                <a:lnTo>
                  <a:pt x="0" y="287401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/>
            </a:stretch>
          </a:blipFill>
        </p:spPr>
      </p:sp>
      <p:sp>
        <p:nvSpPr>
          <p:cNvPr id="39" name="TextBox 39"/>
          <p:cNvSpPr txBox="1"/>
          <p:nvPr/>
        </p:nvSpPr>
        <p:spPr>
          <a:xfrm>
            <a:off x="1795426" y="9023154"/>
            <a:ext cx="4299982" cy="5073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60"/>
              </a:lnSpc>
            </a:pPr>
            <a:r>
              <a:rPr lang="en-US" sz="2900">
                <a:solidFill>
                  <a:srgbClr val="3E5532"/>
                </a:solidFill>
                <a:latin typeface="Alice"/>
                <a:ea typeface="Alice"/>
                <a:cs typeface="Alice"/>
                <a:sym typeface="Alice"/>
              </a:rPr>
              <a:t>Leonor Gavião nº 63531</a:t>
            </a:r>
          </a:p>
        </p:txBody>
      </p:sp>
      <p:sp>
        <p:nvSpPr>
          <p:cNvPr id="40" name="Freeform 40"/>
          <p:cNvSpPr/>
          <p:nvPr/>
        </p:nvSpPr>
        <p:spPr>
          <a:xfrm rot="-9172209">
            <a:off x="-500285" y="4133626"/>
            <a:ext cx="2215247" cy="2611681"/>
          </a:xfrm>
          <a:custGeom>
            <a:avLst/>
            <a:gdLst/>
            <a:ahLst/>
            <a:cxnLst/>
            <a:rect l="l" t="t" r="r" b="b"/>
            <a:pathLst>
              <a:path w="2215247" h="2611681">
                <a:moveTo>
                  <a:pt x="0" y="0"/>
                </a:moveTo>
                <a:lnTo>
                  <a:pt x="2215247" y="0"/>
                </a:lnTo>
                <a:lnTo>
                  <a:pt x="2215247" y="2611681"/>
                </a:lnTo>
                <a:lnTo>
                  <a:pt x="0" y="2611681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>
              <a:fillRect t="-5479"/>
            </a:stretch>
          </a:blipFill>
        </p:spPr>
      </p:sp>
      <p:sp>
        <p:nvSpPr>
          <p:cNvPr id="41" name="Freeform 41"/>
          <p:cNvSpPr/>
          <p:nvPr/>
        </p:nvSpPr>
        <p:spPr>
          <a:xfrm rot="4535629">
            <a:off x="-792943" y="7351654"/>
            <a:ext cx="3168257" cy="3813291"/>
          </a:xfrm>
          <a:custGeom>
            <a:avLst/>
            <a:gdLst/>
            <a:ahLst/>
            <a:cxnLst/>
            <a:rect l="l" t="t" r="r" b="b"/>
            <a:pathLst>
              <a:path w="3168257" h="3813291">
                <a:moveTo>
                  <a:pt x="0" y="0"/>
                </a:moveTo>
                <a:lnTo>
                  <a:pt x="3168257" y="0"/>
                </a:lnTo>
                <a:lnTo>
                  <a:pt x="3168257" y="3813292"/>
                </a:lnTo>
                <a:lnTo>
                  <a:pt x="0" y="3813292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>
              <a:fillRect/>
            </a:stretch>
          </a:blipFill>
        </p:spPr>
      </p:sp>
      <p:sp>
        <p:nvSpPr>
          <p:cNvPr id="42" name="Freeform 42"/>
          <p:cNvSpPr/>
          <p:nvPr/>
        </p:nvSpPr>
        <p:spPr>
          <a:xfrm rot="348148">
            <a:off x="3945417" y="8254947"/>
            <a:ext cx="412752" cy="717829"/>
          </a:xfrm>
          <a:custGeom>
            <a:avLst/>
            <a:gdLst/>
            <a:ahLst/>
            <a:cxnLst/>
            <a:rect l="l" t="t" r="r" b="b"/>
            <a:pathLst>
              <a:path w="412752" h="717829">
                <a:moveTo>
                  <a:pt x="0" y="0"/>
                </a:moveTo>
                <a:lnTo>
                  <a:pt x="412752" y="0"/>
                </a:lnTo>
                <a:lnTo>
                  <a:pt x="412752" y="717829"/>
                </a:lnTo>
                <a:lnTo>
                  <a:pt x="0" y="717829"/>
                </a:lnTo>
                <a:lnTo>
                  <a:pt x="0" y="0"/>
                </a:lnTo>
                <a:close/>
              </a:path>
            </a:pathLst>
          </a:custGeom>
          <a:blipFill>
            <a:blip r:embed="rId24"/>
            <a:stretch>
              <a:fillRect/>
            </a:stretch>
          </a:blipFill>
        </p:spPr>
      </p:sp>
      <p:grpSp>
        <p:nvGrpSpPr>
          <p:cNvPr id="43" name="Group 43"/>
          <p:cNvGrpSpPr/>
          <p:nvPr/>
        </p:nvGrpSpPr>
        <p:grpSpPr>
          <a:xfrm rot="-77360">
            <a:off x="3619294" y="7939824"/>
            <a:ext cx="1064998" cy="985034"/>
            <a:chOff x="0" y="0"/>
            <a:chExt cx="1419998" cy="1313379"/>
          </a:xfrm>
        </p:grpSpPr>
        <p:sp>
          <p:nvSpPr>
            <p:cNvPr id="44" name="Freeform 44"/>
            <p:cNvSpPr/>
            <p:nvPr/>
          </p:nvSpPr>
          <p:spPr>
            <a:xfrm>
              <a:off x="0" y="724186"/>
              <a:ext cx="1419998" cy="149100"/>
            </a:xfrm>
            <a:custGeom>
              <a:avLst/>
              <a:gdLst/>
              <a:ahLst/>
              <a:cxnLst/>
              <a:rect l="l" t="t" r="r" b="b"/>
              <a:pathLst>
                <a:path w="1419998" h="149100">
                  <a:moveTo>
                    <a:pt x="0" y="0"/>
                  </a:moveTo>
                  <a:lnTo>
                    <a:pt x="1419998" y="0"/>
                  </a:lnTo>
                  <a:lnTo>
                    <a:pt x="1419998" y="149100"/>
                  </a:lnTo>
                  <a:lnTo>
                    <a:pt x="0" y="1491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>
                <a:extLst>
                  <a:ext uri="{96DAC541-7B7A-43D3-8B79-37D633B846F1}">
                    <asvg:svgBlip xmlns:asvg="http://schemas.microsoft.com/office/drawing/2016/SVG/main" r:embed="rId1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45" name="Freeform 45"/>
            <p:cNvSpPr/>
            <p:nvPr/>
          </p:nvSpPr>
          <p:spPr>
            <a:xfrm>
              <a:off x="45242" y="0"/>
              <a:ext cx="1329514" cy="1313379"/>
            </a:xfrm>
            <a:custGeom>
              <a:avLst/>
              <a:gdLst/>
              <a:ahLst/>
              <a:cxnLst/>
              <a:rect l="l" t="t" r="r" b="b"/>
              <a:pathLst>
                <a:path w="1329514" h="1313379">
                  <a:moveTo>
                    <a:pt x="0" y="0"/>
                  </a:moveTo>
                  <a:lnTo>
                    <a:pt x="1329514" y="0"/>
                  </a:lnTo>
                  <a:lnTo>
                    <a:pt x="1329514" y="1313379"/>
                  </a:lnTo>
                  <a:lnTo>
                    <a:pt x="0" y="13133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/>
              <a:stretch>
                <a:fillRect/>
              </a:stretch>
            </a:blipFill>
          </p:spPr>
        </p:sp>
      </p:grpSp>
      <p:grpSp>
        <p:nvGrpSpPr>
          <p:cNvPr id="46" name="Group 46"/>
          <p:cNvGrpSpPr/>
          <p:nvPr/>
        </p:nvGrpSpPr>
        <p:grpSpPr>
          <a:xfrm rot="2913982">
            <a:off x="1522954" y="6288496"/>
            <a:ext cx="1064998" cy="985034"/>
            <a:chOff x="0" y="0"/>
            <a:chExt cx="1419998" cy="1313379"/>
          </a:xfrm>
        </p:grpSpPr>
        <p:sp>
          <p:nvSpPr>
            <p:cNvPr id="47" name="Freeform 47"/>
            <p:cNvSpPr/>
            <p:nvPr/>
          </p:nvSpPr>
          <p:spPr>
            <a:xfrm>
              <a:off x="0" y="724186"/>
              <a:ext cx="1419998" cy="149100"/>
            </a:xfrm>
            <a:custGeom>
              <a:avLst/>
              <a:gdLst/>
              <a:ahLst/>
              <a:cxnLst/>
              <a:rect l="l" t="t" r="r" b="b"/>
              <a:pathLst>
                <a:path w="1419998" h="149100">
                  <a:moveTo>
                    <a:pt x="0" y="0"/>
                  </a:moveTo>
                  <a:lnTo>
                    <a:pt x="1419998" y="0"/>
                  </a:lnTo>
                  <a:lnTo>
                    <a:pt x="1419998" y="149100"/>
                  </a:lnTo>
                  <a:lnTo>
                    <a:pt x="0" y="1491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>
                <a:extLst>
                  <a:ext uri="{96DAC541-7B7A-43D3-8B79-37D633B846F1}">
                    <asvg:svgBlip xmlns:asvg="http://schemas.microsoft.com/office/drawing/2016/SVG/main" r:embed="rId1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48" name="Freeform 48"/>
            <p:cNvSpPr/>
            <p:nvPr/>
          </p:nvSpPr>
          <p:spPr>
            <a:xfrm>
              <a:off x="45242" y="0"/>
              <a:ext cx="1329514" cy="1313379"/>
            </a:xfrm>
            <a:custGeom>
              <a:avLst/>
              <a:gdLst/>
              <a:ahLst/>
              <a:cxnLst/>
              <a:rect l="l" t="t" r="r" b="b"/>
              <a:pathLst>
                <a:path w="1329514" h="1313379">
                  <a:moveTo>
                    <a:pt x="0" y="0"/>
                  </a:moveTo>
                  <a:lnTo>
                    <a:pt x="1329514" y="0"/>
                  </a:lnTo>
                  <a:lnTo>
                    <a:pt x="1329514" y="1313379"/>
                  </a:lnTo>
                  <a:lnTo>
                    <a:pt x="0" y="13133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/>
              <a:stretch>
                <a:fillRect/>
              </a:stretch>
            </a:blipFill>
          </p:spPr>
        </p:sp>
      </p:grpSp>
      <p:sp>
        <p:nvSpPr>
          <p:cNvPr id="49" name="Freeform 49"/>
          <p:cNvSpPr/>
          <p:nvPr/>
        </p:nvSpPr>
        <p:spPr>
          <a:xfrm>
            <a:off x="3145217" y="8254947"/>
            <a:ext cx="492433" cy="794247"/>
          </a:xfrm>
          <a:custGeom>
            <a:avLst/>
            <a:gdLst/>
            <a:ahLst/>
            <a:cxnLst/>
            <a:rect l="l" t="t" r="r" b="b"/>
            <a:pathLst>
              <a:path w="492433" h="794247">
                <a:moveTo>
                  <a:pt x="0" y="0"/>
                </a:moveTo>
                <a:lnTo>
                  <a:pt x="492433" y="0"/>
                </a:lnTo>
                <a:lnTo>
                  <a:pt x="492433" y="794246"/>
                </a:lnTo>
                <a:lnTo>
                  <a:pt x="0" y="794246"/>
                </a:lnTo>
                <a:lnTo>
                  <a:pt x="0" y="0"/>
                </a:lnTo>
                <a:close/>
              </a:path>
            </a:pathLst>
          </a:custGeom>
          <a:blipFill>
            <a:blip r:embed="rId25"/>
            <a:stretch>
              <a:fillRect/>
            </a:stretch>
          </a:blipFill>
        </p:spPr>
      </p:sp>
      <p:sp>
        <p:nvSpPr>
          <p:cNvPr id="50" name="Freeform 50"/>
          <p:cNvSpPr/>
          <p:nvPr/>
        </p:nvSpPr>
        <p:spPr>
          <a:xfrm rot="-4486996">
            <a:off x="2833886" y="8712975"/>
            <a:ext cx="396231" cy="442716"/>
          </a:xfrm>
          <a:custGeom>
            <a:avLst/>
            <a:gdLst/>
            <a:ahLst/>
            <a:cxnLst/>
            <a:rect l="l" t="t" r="r" b="b"/>
            <a:pathLst>
              <a:path w="396231" h="442716">
                <a:moveTo>
                  <a:pt x="0" y="0"/>
                </a:moveTo>
                <a:lnTo>
                  <a:pt x="396231" y="0"/>
                </a:lnTo>
                <a:lnTo>
                  <a:pt x="396231" y="442716"/>
                </a:lnTo>
                <a:lnTo>
                  <a:pt x="0" y="442716"/>
                </a:lnTo>
                <a:lnTo>
                  <a:pt x="0" y="0"/>
                </a:lnTo>
                <a:close/>
              </a:path>
            </a:pathLst>
          </a:custGeom>
          <a:blipFill>
            <a:blip r:embed="rId26">
              <a:extLst>
                <a:ext uri="{96DAC541-7B7A-43D3-8B79-37D633B846F1}">
                  <asvg:svgBlip xmlns:asvg="http://schemas.microsoft.com/office/drawing/2016/SVG/main" r:embed="rId27"/>
                </a:ext>
              </a:extLst>
            </a:blip>
            <a:stretch>
              <a:fillRect/>
            </a:stretch>
          </a:blipFill>
        </p:spPr>
      </p:sp>
      <p:sp>
        <p:nvSpPr>
          <p:cNvPr id="51" name="Freeform 51"/>
          <p:cNvSpPr/>
          <p:nvPr/>
        </p:nvSpPr>
        <p:spPr>
          <a:xfrm>
            <a:off x="2244094" y="8389356"/>
            <a:ext cx="492433" cy="794247"/>
          </a:xfrm>
          <a:custGeom>
            <a:avLst/>
            <a:gdLst/>
            <a:ahLst/>
            <a:cxnLst/>
            <a:rect l="l" t="t" r="r" b="b"/>
            <a:pathLst>
              <a:path w="492433" h="794247">
                <a:moveTo>
                  <a:pt x="0" y="0"/>
                </a:moveTo>
                <a:lnTo>
                  <a:pt x="492433" y="0"/>
                </a:lnTo>
                <a:lnTo>
                  <a:pt x="492433" y="794246"/>
                </a:lnTo>
                <a:lnTo>
                  <a:pt x="0" y="794246"/>
                </a:lnTo>
                <a:lnTo>
                  <a:pt x="0" y="0"/>
                </a:lnTo>
                <a:close/>
              </a:path>
            </a:pathLst>
          </a:custGeom>
          <a:blipFill>
            <a:blip r:embed="rId25"/>
            <a:stretch>
              <a:fillRect/>
            </a:stretch>
          </a:blipFill>
        </p:spPr>
      </p:sp>
      <p:sp>
        <p:nvSpPr>
          <p:cNvPr id="52" name="Freeform 52"/>
          <p:cNvSpPr/>
          <p:nvPr/>
        </p:nvSpPr>
        <p:spPr>
          <a:xfrm>
            <a:off x="1842540" y="8344364"/>
            <a:ext cx="492433" cy="794247"/>
          </a:xfrm>
          <a:custGeom>
            <a:avLst/>
            <a:gdLst/>
            <a:ahLst/>
            <a:cxnLst/>
            <a:rect l="l" t="t" r="r" b="b"/>
            <a:pathLst>
              <a:path w="492433" h="794247">
                <a:moveTo>
                  <a:pt x="0" y="0"/>
                </a:moveTo>
                <a:lnTo>
                  <a:pt x="492433" y="0"/>
                </a:lnTo>
                <a:lnTo>
                  <a:pt x="492433" y="794247"/>
                </a:lnTo>
                <a:lnTo>
                  <a:pt x="0" y="794247"/>
                </a:lnTo>
                <a:lnTo>
                  <a:pt x="0" y="0"/>
                </a:lnTo>
                <a:close/>
              </a:path>
            </a:pathLst>
          </a:custGeom>
          <a:blipFill>
            <a:blip r:embed="rId25"/>
            <a:stretch>
              <a:fillRect/>
            </a:stretch>
          </a:blipFill>
        </p:spPr>
      </p:sp>
      <p:sp>
        <p:nvSpPr>
          <p:cNvPr id="53" name="Freeform 53"/>
          <p:cNvSpPr/>
          <p:nvPr/>
        </p:nvSpPr>
        <p:spPr>
          <a:xfrm rot="-4439393">
            <a:off x="2198249" y="8710761"/>
            <a:ext cx="396231" cy="442716"/>
          </a:xfrm>
          <a:custGeom>
            <a:avLst/>
            <a:gdLst/>
            <a:ahLst/>
            <a:cxnLst/>
            <a:rect l="l" t="t" r="r" b="b"/>
            <a:pathLst>
              <a:path w="396231" h="442716">
                <a:moveTo>
                  <a:pt x="0" y="0"/>
                </a:moveTo>
                <a:lnTo>
                  <a:pt x="396232" y="0"/>
                </a:lnTo>
                <a:lnTo>
                  <a:pt x="396232" y="442716"/>
                </a:lnTo>
                <a:lnTo>
                  <a:pt x="0" y="442716"/>
                </a:lnTo>
                <a:lnTo>
                  <a:pt x="0" y="0"/>
                </a:lnTo>
                <a:close/>
              </a:path>
            </a:pathLst>
          </a:custGeom>
          <a:blipFill>
            <a:blip r:embed="rId26">
              <a:extLst>
                <a:ext uri="{96DAC541-7B7A-43D3-8B79-37D633B846F1}">
                  <asvg:svgBlip xmlns:asvg="http://schemas.microsoft.com/office/drawing/2016/SVG/main" r:embed="rId27"/>
                </a:ext>
              </a:extLst>
            </a:blip>
            <a:stretch>
              <a:fillRect/>
            </a:stretch>
          </a:blipFill>
        </p:spPr>
      </p:sp>
      <p:sp>
        <p:nvSpPr>
          <p:cNvPr id="54" name="Freeform 54"/>
          <p:cNvSpPr/>
          <p:nvPr/>
        </p:nvSpPr>
        <p:spPr>
          <a:xfrm rot="-638571">
            <a:off x="3482142" y="5061969"/>
            <a:ext cx="762621" cy="754995"/>
          </a:xfrm>
          <a:custGeom>
            <a:avLst/>
            <a:gdLst/>
            <a:ahLst/>
            <a:cxnLst/>
            <a:rect l="l" t="t" r="r" b="b"/>
            <a:pathLst>
              <a:path w="762621" h="754995">
                <a:moveTo>
                  <a:pt x="0" y="0"/>
                </a:moveTo>
                <a:lnTo>
                  <a:pt x="762621" y="0"/>
                </a:lnTo>
                <a:lnTo>
                  <a:pt x="762621" y="754995"/>
                </a:lnTo>
                <a:lnTo>
                  <a:pt x="0" y="754995"/>
                </a:lnTo>
                <a:lnTo>
                  <a:pt x="0" y="0"/>
                </a:lnTo>
                <a:close/>
              </a:path>
            </a:pathLst>
          </a:custGeom>
          <a:blipFill>
            <a:blip r:embed="rId28"/>
            <a:stretch>
              <a:fillRect/>
            </a:stretch>
          </a:blipFill>
        </p:spPr>
      </p:sp>
      <p:grpSp>
        <p:nvGrpSpPr>
          <p:cNvPr id="55" name="Group 55"/>
          <p:cNvGrpSpPr/>
          <p:nvPr/>
        </p:nvGrpSpPr>
        <p:grpSpPr>
          <a:xfrm rot="1939723">
            <a:off x="3377689" y="4749376"/>
            <a:ext cx="1064998" cy="985034"/>
            <a:chOff x="0" y="0"/>
            <a:chExt cx="1419998" cy="1313379"/>
          </a:xfrm>
        </p:grpSpPr>
        <p:sp>
          <p:nvSpPr>
            <p:cNvPr id="56" name="Freeform 56"/>
            <p:cNvSpPr/>
            <p:nvPr/>
          </p:nvSpPr>
          <p:spPr>
            <a:xfrm>
              <a:off x="0" y="724186"/>
              <a:ext cx="1419998" cy="149100"/>
            </a:xfrm>
            <a:custGeom>
              <a:avLst/>
              <a:gdLst/>
              <a:ahLst/>
              <a:cxnLst/>
              <a:rect l="l" t="t" r="r" b="b"/>
              <a:pathLst>
                <a:path w="1419998" h="149100">
                  <a:moveTo>
                    <a:pt x="0" y="0"/>
                  </a:moveTo>
                  <a:lnTo>
                    <a:pt x="1419998" y="0"/>
                  </a:lnTo>
                  <a:lnTo>
                    <a:pt x="1419998" y="149100"/>
                  </a:lnTo>
                  <a:lnTo>
                    <a:pt x="0" y="1491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>
                <a:extLst>
                  <a:ext uri="{96DAC541-7B7A-43D3-8B79-37D633B846F1}">
                    <asvg:svgBlip xmlns:asvg="http://schemas.microsoft.com/office/drawing/2016/SVG/main" r:embed="rId1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57" name="Freeform 57"/>
            <p:cNvSpPr/>
            <p:nvPr/>
          </p:nvSpPr>
          <p:spPr>
            <a:xfrm>
              <a:off x="45242" y="0"/>
              <a:ext cx="1329514" cy="1313379"/>
            </a:xfrm>
            <a:custGeom>
              <a:avLst/>
              <a:gdLst/>
              <a:ahLst/>
              <a:cxnLst/>
              <a:rect l="l" t="t" r="r" b="b"/>
              <a:pathLst>
                <a:path w="1329514" h="1313379">
                  <a:moveTo>
                    <a:pt x="0" y="0"/>
                  </a:moveTo>
                  <a:lnTo>
                    <a:pt x="1329514" y="0"/>
                  </a:lnTo>
                  <a:lnTo>
                    <a:pt x="1329514" y="1313379"/>
                  </a:lnTo>
                  <a:lnTo>
                    <a:pt x="0" y="13133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/>
              <a:stretch>
                <a:fillRect/>
              </a:stretch>
            </a:blipFill>
          </p:spPr>
        </p:sp>
      </p:grpSp>
      <p:sp>
        <p:nvSpPr>
          <p:cNvPr id="58" name="TextBox 58"/>
          <p:cNvSpPr txBox="1"/>
          <p:nvPr/>
        </p:nvSpPr>
        <p:spPr>
          <a:xfrm>
            <a:off x="5085812" y="2062892"/>
            <a:ext cx="11785475" cy="67767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3E5532"/>
                </a:solidFill>
                <a:latin typeface="Alice Bold"/>
                <a:ea typeface="Alice Bold"/>
                <a:cs typeface="Alice Bold"/>
                <a:sym typeface="Alice Bold"/>
              </a:rPr>
              <a:t>Como serão recolhidos os dados?</a:t>
            </a:r>
          </a:p>
          <a:p>
            <a:pPr marL="518158" lvl="1" indent="-259079" algn="l">
              <a:lnSpc>
                <a:spcPts val="3359"/>
              </a:lnSpc>
              <a:buFont typeface="Arial"/>
              <a:buChar char="•"/>
            </a:pPr>
            <a:r>
              <a:rPr lang="en-US" sz="2399">
                <a:solidFill>
                  <a:srgbClr val="3E5532"/>
                </a:solidFill>
                <a:latin typeface="Alice"/>
                <a:ea typeface="Alice"/>
                <a:cs typeface="Alice"/>
                <a:sym typeface="Alice"/>
              </a:rPr>
              <a:t>Serão colocadas lagartas de diferentes cores, em diferentes locais de 3 habitats e, ao fim de 2 horas, serão contadas as marcas de mordidas ou bicadas.</a:t>
            </a:r>
          </a:p>
          <a:p>
            <a:pPr algn="l">
              <a:lnSpc>
                <a:spcPts val="3359"/>
              </a:lnSpc>
            </a:pPr>
            <a:endParaRPr lang="en-US" sz="2399">
              <a:solidFill>
                <a:srgbClr val="3E5532"/>
              </a:solidFill>
              <a:latin typeface="Alice"/>
              <a:ea typeface="Alice"/>
              <a:cs typeface="Alice"/>
              <a:sym typeface="Alice"/>
            </a:endParaRPr>
          </a:p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3E5532"/>
                </a:solidFill>
                <a:latin typeface="Alice Bold"/>
                <a:ea typeface="Alice Bold"/>
                <a:cs typeface="Alice Bold"/>
                <a:sym typeface="Alice Bold"/>
              </a:rPr>
              <a:t>Random samples:</a:t>
            </a:r>
          </a:p>
          <a:p>
            <a:pPr marL="518158" lvl="1" indent="-259079" algn="l">
              <a:lnSpc>
                <a:spcPts val="3359"/>
              </a:lnSpc>
              <a:buFont typeface="Arial"/>
              <a:buChar char="•"/>
            </a:pPr>
            <a:r>
              <a:rPr lang="en-US" sz="2399">
                <a:solidFill>
                  <a:srgbClr val="3E5532"/>
                </a:solidFill>
                <a:latin typeface="Alice"/>
                <a:ea typeface="Alice"/>
                <a:cs typeface="Alice"/>
                <a:sym typeface="Alice"/>
              </a:rPr>
              <a:t>Serão utilizadas o mesmo número de larvas de cada cor em cada local diferente de cada habitat.</a:t>
            </a:r>
          </a:p>
          <a:p>
            <a:pPr marL="518158" lvl="1" indent="-259079" algn="l">
              <a:lnSpc>
                <a:spcPts val="3359"/>
              </a:lnSpc>
              <a:buFont typeface="Arial"/>
              <a:buChar char="•"/>
            </a:pPr>
            <a:r>
              <a:rPr lang="en-US" sz="2399">
                <a:solidFill>
                  <a:srgbClr val="3E5532"/>
                </a:solidFill>
                <a:latin typeface="Alice"/>
                <a:ea typeface="Alice"/>
                <a:cs typeface="Alice"/>
                <a:sym typeface="Alice"/>
              </a:rPr>
              <a:t>Ex.: uma larva de cada cor numa folha de relva, uma larva de cada cor no tronco e uma larva de cada cor numa folha.</a:t>
            </a:r>
          </a:p>
          <a:p>
            <a:pPr algn="l">
              <a:lnSpc>
                <a:spcPts val="3359"/>
              </a:lnSpc>
            </a:pPr>
            <a:endParaRPr lang="en-US" sz="2399">
              <a:solidFill>
                <a:srgbClr val="3E5532"/>
              </a:solidFill>
              <a:latin typeface="Alice"/>
              <a:ea typeface="Alice"/>
              <a:cs typeface="Alice"/>
              <a:sym typeface="Alice"/>
            </a:endParaRPr>
          </a:p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3E5532"/>
                </a:solidFill>
                <a:latin typeface="Alice Bold"/>
                <a:ea typeface="Alice Bold"/>
                <a:cs typeface="Alice Bold"/>
                <a:sym typeface="Alice Bold"/>
              </a:rPr>
              <a:t>Como evitar pontencial confounding:</a:t>
            </a:r>
          </a:p>
          <a:p>
            <a:pPr marL="518158" lvl="1" indent="-259079" algn="l">
              <a:lnSpc>
                <a:spcPts val="3359"/>
              </a:lnSpc>
              <a:buFont typeface="Arial"/>
              <a:buChar char="•"/>
            </a:pPr>
            <a:r>
              <a:rPr lang="en-US" sz="2399">
                <a:solidFill>
                  <a:srgbClr val="3E5532"/>
                </a:solidFill>
                <a:latin typeface="Alice"/>
                <a:ea typeface="Alice"/>
                <a:cs typeface="Alice"/>
                <a:sym typeface="Alice"/>
              </a:rPr>
              <a:t>Para minimizar o cheiro químico da plasticina, as lagartas serão colocadas num contentor com terra e plantas no dia anterior.</a:t>
            </a:r>
          </a:p>
          <a:p>
            <a:pPr algn="l">
              <a:lnSpc>
                <a:spcPts val="3359"/>
              </a:lnSpc>
            </a:pPr>
            <a:endParaRPr lang="en-US" sz="2399">
              <a:solidFill>
                <a:srgbClr val="3E5532"/>
              </a:solidFill>
              <a:latin typeface="Alice"/>
              <a:ea typeface="Alice"/>
              <a:cs typeface="Alice"/>
              <a:sym typeface="Alice"/>
            </a:endParaRPr>
          </a:p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3E5532"/>
                </a:solidFill>
                <a:latin typeface="Alice Bold"/>
                <a:ea typeface="Alice Bold"/>
                <a:cs typeface="Alice Bold"/>
                <a:sym typeface="Alice Bold"/>
              </a:rPr>
              <a:t>Coisas a considerar:</a:t>
            </a:r>
          </a:p>
          <a:p>
            <a:pPr marL="518158" lvl="1" indent="-259079" algn="l">
              <a:lnSpc>
                <a:spcPts val="3359"/>
              </a:lnSpc>
              <a:buFont typeface="Arial"/>
              <a:buChar char="•"/>
            </a:pPr>
            <a:r>
              <a:rPr lang="en-US" sz="2399">
                <a:solidFill>
                  <a:srgbClr val="3E5532"/>
                </a:solidFill>
                <a:latin typeface="Alice"/>
                <a:ea typeface="Alice"/>
                <a:cs typeface="Alice"/>
                <a:sym typeface="Alice"/>
              </a:rPr>
              <a:t>Lagartas desaparecidas serão desconsideradas para o estudo.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272</Words>
  <Application>Microsoft Office PowerPoint</Application>
  <PresentationFormat>Personalizados</PresentationFormat>
  <Paragraphs>31</Paragraphs>
  <Slides>3</Slides>
  <Notes>0</Notes>
  <HiddenSlides>0</HiddenSlides>
  <MMClips>0</MMClips>
  <ScaleCrop>false</ScaleCrop>
  <HeadingPairs>
    <vt:vector size="6" baseType="variant">
      <vt:variant>
        <vt:lpstr>Tipos de letra usados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dos diapositivos</vt:lpstr>
      </vt:variant>
      <vt:variant>
        <vt:i4>3</vt:i4>
      </vt:variant>
    </vt:vector>
  </HeadingPairs>
  <TitlesOfParts>
    <vt:vector size="10" baseType="lpstr">
      <vt:lpstr>Arial</vt:lpstr>
      <vt:lpstr>Calibri</vt:lpstr>
      <vt:lpstr>Open Sans</vt:lpstr>
      <vt:lpstr>Alice</vt:lpstr>
      <vt:lpstr>Alice Bold</vt:lpstr>
      <vt:lpstr>Alice Italics</vt:lpstr>
      <vt:lpstr>Office Theme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Como é que a cor afeta a predação de uma lagarta?</dc:title>
  <cp:lastModifiedBy>Maria Sobral</cp:lastModifiedBy>
  <cp:revision>6</cp:revision>
  <dcterms:created xsi:type="dcterms:W3CDTF">2006-08-16T00:00:00Z</dcterms:created>
  <dcterms:modified xsi:type="dcterms:W3CDTF">2026-10-13T22:30:11Z</dcterms:modified>
  <dc:identifier>DAHX4ljc5Fg</dc:identifier>
</cp:coreProperties>
</file>